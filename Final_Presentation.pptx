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(~30 seconds)
"Good [morning/afternoon]. My name is Udhaya Kumar Palani, student ID 23306891, and over the next ten minutes I will walk you through my MSc project on interpretable network intrusion detection.
The project applies correlation-based feature selection and a hybrid CNN-LSTM classifier to the CICIDS2017 benchmark, and uses SHAP to explain the model's decisions. I'll cover the motivation, the four models I compared, the headline results, a short live demo of SHAP in Colab, and the limitations and future work."
DELIVERY TIP: Speak slowly. This first slide buys you 30 seconds before you have to start delivering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(~50 seconds)
"Three real-world concerns frame this project.
First, computational cost. Modern deep IDS models are expensive to train and to run on full feature spaces.
Second, opacity. When a deep model raises an alert, the analyst on the receiving end has no easy way to verify why. This blocks operational trust and creates problems with the GDPR right to explanation.
Third, class imbalance. In CICIDS2017, benign traffic outnumbers rare attacks like Heartbleed or Infiltration by three to five orders of magnitude. Models trained naively are biased towards the majority class and hide the rare attacks that matter most.
This project addresses all three concerns simultaneously, in a single end-to-end pipeline."
DELIVERY TIP: Pause briefly between the three cards. Don't read every word — the audience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(~45 seconds)
"Three concrete questions structure the project.
RQ1 is about efficiency: can we shrink the feature space without losing accuracy?
RQ2 is about model design: does my proposed hybrid CNN-LSTM beat the base paper's LSTM, the classical Random Forest, and an imbalance-aware XGBoost?
RQ3 is about interpretability: which features drive the decisions, and can SHAP make them clear enough for an analyst?
I'll answer all three by the end of the talk."
DELIVERY TIP: Read each RQ aloud word-for-word — these are the questions you'll be marked against, so make them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(~75 seconds)
"This is the system architecture, top to bottom.
Stage 1: I take the eight CICIDS2017 CSV files — 2.83 million flows with 78 features.
Stage 2: preprocessing. I drop infinity and NaN rows from the CICFlowMeter output, drop duplicates, and stratified-sample to 200,000 flows for tractable training. I collapse the multi-class label to binary — benign versus any attack.
Stage 3: correlation-based feature selection — the algorithmic core. Two passes. First, keep features whose absolute Pearson correlation with the label is above 0.05. Second, walk through them in descending order of relevance and drop any feature whose pairwise correlation with an already-kept feature exceeds 0.95. This gives me about 16 non-redundant features. Backward-direction packet-length statistics dominate.
Stage 4: I train four models on the same selected features — Random Forest as a classical baseline, plain LSTM mirroring the base paper, my proposed CNN-LSTM hybrid (highlighted in orange), and XGBoost trained on SMOTE-balanced data as an imbalance-aware comparator.
Stage 5: I evaluate all four with six metrics, then apply SHAP attribution to the strongest model to expose which features drove the decisions."
DELIVERY TIP: Trace the flow with your laser pointer or cursor while you speak. This slide is your strongest 'methodology' visual — give it the time it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(~45 seconds)
"The dataset is CICIDS2017, published by the Canadian Institute for Cybersecurity. It's five days of realistic enterprise traffic, 2.83 million flows, 78 statistical features extracted with CICFlowMeter, and seven attack categories.
The chart on the right shows how severe the class imbalance is — note the log scale on the y-axis. Benign flows are over two million; the rarest attacks like Heartbleed have under fifty samples each. That's roughly five orders of magnitude.
For tractability in the four-day timeline I sampled 200,000 flows stratified by class, used an 80/20 train-test split, and fixed all random seeds at 42. The pipeline extends to multi-class classification with minor changes documented in the notebook."
DELIVERY TIP: Point at the rightmost bars when you say 'rarest attacks' — visually anchors the imbalance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(~55 seconds)
"Correlation-based feature selection follows the Hall 2000 principle: a good feature subset is correlated with the class, but its members are uncorrelated with each other.
I implement that in two passes. Pass 1: keep features whose absolute Pearson correlation with the label exceeds 0.05. Pass 2: walk through the kept features in descending order of class relevance and drop any feature whose pairwise correlation with an already-kept feature exceeds 0.95.
This shrinks the 78-feature space to about 16 features — an 80 percent reduction.
The chart on the right shows the top 20 by class correlation. Notice that backward-direction packet-length statistics — Bwd Packet Length Std, Max, Mean, Avg Bwd Segment Size — dominate the top four positions, each with absolute correlation above 0.59. This is a useful insight before any model is trained: the size and variance of server-to-client packets are the most directly informative features about whether a flow is malicious.
A side benefit: removing pairwise correlations above 0.95 also makes SHAP attributions cleaner later, because SHAP assumes feature independence."
DELIVERY TIP: When you say 'dominate the top four', point at the top four bars. This connects what you say to what they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(~50 seconds)
"I deliberately picked four models that span the methodological spectrum.
Random Forest is the classical ensemble baseline — fast to train, hard to beat, and TreeExplainer gives me exact SHAP values cheaply.
The plain LSTM mirrors the architecture in my base paper, Donkol et al. 2023.
The CNN-LSTM, marked with a star, is my proposed contribution. It follows the architecture of Alsaiari and Ilyas 2025: two Conv1D layers extract local cross-feature patterns, and an LSTM summarises those activations into a single classification.
XGBoost plus SMOTE addresses the class imbalance directly. SMOTE generates synthetic minority-class samples in the training fold only, then XGBoost classifies — Li et al. 2023 showed this works particularly well for IDS imbalance.
Notice the training times at the bottom — they vary by two orders of magnitude. The CNN-LSTM is the most expensive at 602 seconds; XGBoost+SMOTE finishes in five. Keep that in mind for the results in a moment."
DELIVERY TIP: Tap each card top-to-bottom as you speak. Don't read the architecture details aloud — let the slide do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(~75 seconds)
"This is the headline results table. All four models, all six metrics, training time on the right. Best values in each column highlighted in green; my proposed CNN-LSTM in orange.
Three findings deserve emphasis.
First, Random Forest leads on F1 at 0.9926 and on false positive rate at just 0.07 percent. That FPR matters — it's the metric that decides whether security analysts trust the system.
Second, XGBoost plus SMOTE leads on attack recall at 99.32 percent — the highest of the four — and trains in just 5 seconds. That's roughly 120 times faster than my CNN-LSTM. SMOTE clearly works for imbalanced IDS data.
Third, the genuinely positive finding for my proposed model: CNN-LSTM beats the plain LSTM on every single metric. F1 improves by 2.4 percentage points and FPR drops by a factor of 3.6. So RQ2 is partially confirmed — the hybrid does beat the base-paper baseline.
But the honest answer to RQ2 overall is: classical and imbalance-aware methods edge out my proposed hybrid on this binary task. I'm not going to hide that. Future work that adds SMOTE to the deep models will probably close the gap."
DELIVERY TIP: This is your most important slide. Don't rush. Pause after each finding. Acknowledge the honest result openly — examiners reward intellectual honesty.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(~50 seconds)
"Two visuals make the comparison concrete.
The ROC curves on the left show that Random Forest and XGBoost+SMOTE — the red and blue lines hugging the upper-left corner — are essentially indistinguishable, both at AUC above 0.9998. The CNN-LSTM curve in green sits noticeably below them. The plain LSTM in orange is the lowest of all four, with visibly slower rise to the top-left.
The confusion matrices on the right break down the error types. Random Forest produces only 24 false positives out of 33,244 benign flows. The plain LSTM is the worst on both axes — 663 FPs and 411 FNs. My CNN-LSTM cuts the LSTM's false positives to 182 — a 3.6× reduction — but at the cost of recall. XGBoost+SMOTE has the best recall, missing only 46 attacks.
This visualises the trade-off explicitly: Random Forest favours precision, XGBoost+SMOTE favours recall, CNN-LSTM is in between, plain LSTM is dominated."
DELIVERY TIP: Use your laser pointer or cursor to point at the actual curves and matrix cells you reference — this is hard to follow from text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(~2 minutes total: 30 s setup, 90 s demo)
PART A — On this slide (~30 seconds):
"For interpretability I'm switching to Google Colab now to show you SHAP running live. I'll show four things in the next 90 seconds: the CFS function and the features it picked, the CNN-LSTM model summary, the SHAP cell running live, and a quick walk-through of what SHAP found.
All earlier cells are pre-run from this morning so I'm not retraining anything live — only re-executing the SHAP cell."
PART B — SWITCH TO COLAB. Demo script (~90 seconds):
STEP 1 (~10 s) — Scroll to the CFS section:
"This is the CFS function. Two passes — class relevance, then redundancy elimination. It returns about 16 features, and you can see at the top of the printed list: Bwd Packet Length Std, Max, Mean — the same features Figure 2 highlighted."
STEP 2 (~10 s) — Scroll to model summary:
"Here's the CNN-LSTM model summary. Two Conv1D blocks, an LSTM, two dense layers. About 25,000 trainable parameters."
STEP 3 (~30 s) — Run the SHAP cell:
"And here's SHAP running live."
[Click 'Run' on the cell containing: explainer = shap.TreeExplainer(rf); shap_values = explainer.shap_values(X_shap)]
"This computes Shapley values for 1000 test flows in about 20 seconds — TreeExplainer is exact and fast on Random Forest."
STEP 4 (~30 s) — Walk through the SHAP plot:
"And here's the result — the global feature importance plot. Notice the top features: backward packet length statistics. These are the same features that Pearson correlation ranked first on Slide 6 — two completely independent feature-importance methods agreeing on the same answer. That's exactly the kind of audit trail an analyst needs to trust an alert.
Switching back to slides."
PART C — RETURN to slides (~10 s):
"That's the demo. The convergence between SHAP and Pearson is the central interpretability finding."
CRITICAL TIPS:
- BEFORE the talk: open Colab in a separate tab; pre-run every cell EXCEPT the SHAP one
- Keep the runtime warm — don't let it disconnect
- If the SHAP cell fails: pivot to "let me show you the pre-computed result" and click the existing output cell instead
- Practice the alt-tab once before the real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(~60 seconds + Q&amp;A)
"To wrap up.
CONCLUSIONS: CFS reduced the feature space from 78 to about 16 with no accuracy loss across all four classifiers — RQ1 confirmed. My proposed CNN-LSTM beats the LSTM baseline on every metric — RQ2 partially confirmed. But honestly, Random Forest and XGBoost+SMOTE outperform my hybrid overall on this binary task. SHAP attributions align with Pearson correlations — RQ3 confirmed, and provides an audit trail for analysts.
LIMITATIONS: I'm transparent about five — binary-only, sampled, SHAP on RF only, no cross-testbed validation, no adversarial testing.
FUTURE WORK: The single most impactful next step is adding SMOTE or focal loss to the deep models — this would likely close the gap to XGBoost+SMOTE and possibly let the CNN-LSTM win.
Thank you. I'm happy to take questions."
DELIVERY TIP: When you say 'honestly', look directly at the camera. Examiners reward this kind of intellectual honesty far more than over-claiming.
ANTICIPATED Q&amp;A:
Q: Why didn't you add SMOTE to the deep models?
A: Time. It's the first thing I'd add given another week. The XGBoost+SMOTE result is the strongest evidence that this is the right next step.
Q: Why binary, not multi-class?
A: Tractability in the four-day timeline. The pipeline extends to multi-class with about 30 lines of code change documented in the notebook. I expect the relative ordering of models to shift — deep models tend to gain more on multi-class than tree ensembles.
Q: Is the CNN-LSTM really 'spatial' if there's no image input?
A: Fair challenge. The Conv1D operates over the feature vector, which has no genuine spatial structure. The CNN is acting as a local feature-interaction detector, not a spatial filter in the image-processing sense. I cite Alsaiari and Ilyas 2025 for the architecture but the term 'spatial' is loose in their framing too.
Q: Is 0.07% FPR realistic in production?
A: At the test-set level, yes. Sustained at production scale across distribution shift, no — and that's why Apruzzese et al. 2022 warn that benchmark FPRs are not directly transferable. Cross-testbed validation is in my future work for that reason.
Q: Why CFS instead of PSO like the base paper?
A: Reproducibility and simplicity. CFS is deterministic given a fixed seed and threshold, requires no random initialisation, and gives features a SHAP-friendly independence property. The base paper's PSO is more flexible but harder to defend in a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640080" y="1463040"/>
            <a:ext cx="10972800" cy="822960"/>
          </a:xfrm>
          <a:prstGeom prst="rect">
            <a:avLst/>
          </a:prstGeom>
          <a:noFill/>
          <a:ln/>
        </p:spPr>
        <p:txBody>
          <a:bodyPr wrap="square"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Interpretable Network Intrusion Detection</a:t>
            </a:r>
            <a:endParaRPr lang="en-US" sz="3600" dirty="0"/>
          </a:p>
        </p:txBody>
      </p:sp>
      <p:sp>
        <p:nvSpPr>
          <p:cNvPr id="3" name="Text 1"/>
          <p:cNvSpPr/>
          <p:nvPr/>
        </p:nvSpPr>
        <p:spPr>
          <a:xfrm>
            <a:off x="640080" y="2331720"/>
            <a:ext cx="10972800" cy="640080"/>
          </a:xfrm>
          <a:prstGeom prst="rect">
            <a:avLst/>
          </a:prstGeom>
          <a:noFill/>
          <a:ln/>
        </p:spPr>
        <p:txBody>
          <a:bodyPr wrap="square" rtlCol="0" anchor="ctr"/>
          <a:lstStyle/>
          <a:p>
            <a:pPr algn="l" indent="0" marL="0">
              <a:buNone/>
            </a:pPr>
            <a:r>
              <a:rPr lang="en-US" sz="2200" i="1" dirty="0">
                <a:solidFill>
                  <a:srgbClr val="CADCFC"/>
                </a:solidFill>
                <a:latin typeface="Arial" pitchFamily="34" charset="0"/>
                <a:ea typeface="Arial" pitchFamily="34" charset="-122"/>
                <a:cs typeface="Arial" pitchFamily="34" charset="-120"/>
              </a:rPr>
              <a:t>using Correlation-Based Feature Selection with a Hybrid CNN-LSTM Classifier</a:t>
            </a:r>
            <a:endParaRPr lang="en-US" sz="2200" dirty="0"/>
          </a:p>
        </p:txBody>
      </p:sp>
      <p:sp>
        <p:nvSpPr>
          <p:cNvPr id="4" name="Shape 2"/>
          <p:cNvSpPr/>
          <p:nvPr/>
        </p:nvSpPr>
        <p:spPr>
          <a:xfrm>
            <a:off x="640080" y="3200400"/>
            <a:ext cx="3657600" cy="0"/>
          </a:xfrm>
          <a:prstGeom prst="line">
            <a:avLst/>
          </a:prstGeom>
          <a:noFill/>
          <a:ln w="25400">
            <a:solidFill>
              <a:srgbClr val="CADCFC"/>
            </a:solidFill>
            <a:prstDash val="solid"/>
          </a:ln>
        </p:spPr>
      </p:sp>
      <p:sp>
        <p:nvSpPr>
          <p:cNvPr id="5" name="Text 3"/>
          <p:cNvSpPr/>
          <p:nvPr/>
        </p:nvSpPr>
        <p:spPr>
          <a:xfrm>
            <a:off x="640080" y="3383280"/>
            <a:ext cx="10972800" cy="2011680"/>
          </a:xfrm>
          <a:prstGeom prst="rect">
            <a:avLst/>
          </a:prstGeom>
          <a:noFill/>
          <a:ln/>
        </p:spPr>
        <p:txBody>
          <a:bodyPr wrap="square"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Udhaya Kumar Palani</a:t>
            </a:r>
            <a:endParaRPr lang="en-US" sz="1800" dirty="0"/>
          </a:p>
          <a:p>
            <a:pPr algn="l" indent="0" marL="0">
              <a:buNone/>
            </a:pPr>
            <a:r>
              <a:rPr lang="en-US" sz="1400" dirty="0">
                <a:solidFill>
                  <a:srgbClr val="CADCFC"/>
                </a:solidFill>
                <a:latin typeface="Arial" pitchFamily="34" charset="0"/>
                <a:ea typeface="Arial" pitchFamily="34" charset="-122"/>
                <a:cs typeface="Arial" pitchFamily="34" charset="-120"/>
              </a:rPr>
              <a:t>Student ID: 23306891</a:t>
            </a:r>
            <a:endParaRPr lang="en-US" sz="1800" dirty="0"/>
          </a:p>
          <a:p>
            <a:pPr algn="l" indent="0" marL="0">
              <a:buNone/>
            </a:pPr>
            <a:r>
              <a:rPr lang="en-US" sz="1400" dirty="0">
                <a:solidFill>
                  <a:srgbClr val="CADCFC"/>
                </a:solidFill>
                <a:latin typeface="Arial" pitchFamily="34" charset="0"/>
                <a:ea typeface="Arial" pitchFamily="34" charset="-122"/>
                <a:cs typeface="Arial" pitchFamily="34" charset="-120"/>
              </a:rPr>
              <a:t>MSc in Cybersecurity · National College of Ireland</a:t>
            </a:r>
            <a:endParaRPr lang="en-US" sz="1800" dirty="0"/>
          </a:p>
          <a:p>
            <a:pPr algn="l" indent="0" marL="0">
              <a:buNone/>
            </a:pPr>
            <a:r>
              <a:rPr lang="en-US" sz="1400" i="1" dirty="0">
                <a:solidFill>
                  <a:srgbClr val="CADCFC"/>
                </a:solidFill>
                <a:latin typeface="Arial" pitchFamily="34" charset="0"/>
                <a:ea typeface="Arial" pitchFamily="34" charset="-122"/>
                <a:cs typeface="Arial" pitchFamily="34" charset="-120"/>
              </a:rPr>
              <a:t>H9AIMLC – AI/ML in Cybersecurity</a:t>
            </a:r>
            <a:endParaRPr lang="en-US" sz="1800" dirty="0"/>
          </a:p>
          <a:p>
            <a:pPr algn="l" indent="0" marL="0">
              <a:buNone/>
            </a:pPr>
            <a:r>
              <a:rPr lang="en-US" sz="1300" dirty="0">
                <a:solidFill>
                  <a:srgbClr val="CADCFC"/>
                </a:solidFill>
                <a:latin typeface="Arial" pitchFamily="34" charset="0"/>
                <a:ea typeface="Arial" pitchFamily="34" charset="-122"/>
                <a:cs typeface="Arial" pitchFamily="34" charset="-120"/>
              </a:rPr>
              <a:t>Lecturer: Faithful Chiagoziem Onwuegbuche</a:t>
            </a:r>
            <a:endParaRPr lang="en-US" sz="1800" dirty="0"/>
          </a:p>
        </p:txBody>
      </p:sp>
      <p:sp>
        <p:nvSpPr>
          <p:cNvPr id="6" name="Text 4"/>
          <p:cNvSpPr/>
          <p:nvPr/>
        </p:nvSpPr>
        <p:spPr>
          <a:xfrm>
            <a:off x="640080" y="6035040"/>
            <a:ext cx="10972800" cy="365760"/>
          </a:xfrm>
          <a:prstGeom prst="rect">
            <a:avLst/>
          </a:prstGeom>
          <a:noFill/>
          <a:ln/>
        </p:spPr>
        <p:txBody>
          <a:bodyPr wrap="square" rtlCol="0" anchor="ctr"/>
          <a:lstStyle/>
          <a:p>
            <a:pPr algn="l" indent="0" marL="0">
              <a:buNone/>
            </a:pPr>
            <a:r>
              <a:rPr lang="en-US" sz="1200" dirty="0">
                <a:solidFill>
                  <a:srgbClr val="CADCFC"/>
                </a:solidFill>
                <a:latin typeface="Arial" pitchFamily="34" charset="0"/>
                <a:ea typeface="Arial" pitchFamily="34" charset="-122"/>
                <a:cs typeface="Arial" pitchFamily="34" charset="-120"/>
              </a:rPr>
              <a:t>24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Why this matters</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2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Shape 3"/>
          <p:cNvSpPr/>
          <p:nvPr/>
        </p:nvSpPr>
        <p:spPr>
          <a:xfrm>
            <a:off x="457200" y="1097280"/>
            <a:ext cx="3657600" cy="4297680"/>
          </a:xfrm>
          <a:prstGeom prst="rect">
            <a:avLst/>
          </a:prstGeom>
          <a:solidFill>
            <a:srgbClr val="FFFFFF"/>
          </a:solidFill>
          <a:ln w="12700">
            <a:solidFill>
              <a:srgbClr val="D0D0D0"/>
            </a:solidFill>
            <a:prstDash val="solid"/>
          </a:ln>
          <a:effectLst>
            <a:outerShdw sx="100000" sy="100000" kx="0" ky="0" algn="bl" rotWithShape="0" blurRad="76200" dist="25400" dir="8100000">
              <a:srgbClr val="000000">
                <a:alpha val="10000"/>
              </a:srgbClr>
            </a:outerShdw>
          </a:effectLst>
        </p:spPr>
      </p:sp>
      <p:sp>
        <p:nvSpPr>
          <p:cNvPr id="6" name="Shape 4"/>
          <p:cNvSpPr/>
          <p:nvPr/>
        </p:nvSpPr>
        <p:spPr>
          <a:xfrm>
            <a:off x="457200" y="1097280"/>
            <a:ext cx="3657600" cy="109728"/>
          </a:xfrm>
          <a:prstGeom prst="rect">
            <a:avLst/>
          </a:prstGeom>
          <a:solidFill>
            <a:srgbClr val="1F3864"/>
          </a:solidFill>
          <a:ln w="12700">
            <a:solidFill>
              <a:srgbClr val="1F3864"/>
            </a:solidFill>
            <a:prstDash val="solid"/>
          </a:ln>
        </p:spPr>
      </p:sp>
      <p:sp>
        <p:nvSpPr>
          <p:cNvPr id="7" name="Text 5"/>
          <p:cNvSpPr/>
          <p:nvPr/>
        </p:nvSpPr>
        <p:spPr>
          <a:xfrm>
            <a:off x="685800" y="1325880"/>
            <a:ext cx="548640" cy="548640"/>
          </a:xfrm>
          <a:prstGeom prst="rect">
            <a:avLst/>
          </a:prstGeom>
          <a:noFill/>
          <a:ln/>
        </p:spPr>
        <p:txBody>
          <a:bodyPr wrap="square" lIns="0" tIns="0" rIns="0" bIns="0" rtlCol="0" anchor="ctr"/>
          <a:lstStyle/>
          <a:p>
            <a:pPr algn="l" indent="0" marL="0">
              <a:buNone/>
            </a:pPr>
            <a:r>
              <a:rPr lang="en-US" sz="3600" b="1" dirty="0">
                <a:solidFill>
                  <a:srgbClr val="1F3864"/>
                </a:solidFill>
                <a:latin typeface="Arial" pitchFamily="34" charset="0"/>
                <a:ea typeface="Arial" pitchFamily="34" charset="-122"/>
                <a:cs typeface="Arial" pitchFamily="34" charset="-120"/>
              </a:rPr>
              <a:t>1</a:t>
            </a:r>
            <a:endParaRPr lang="en-US" sz="3600" dirty="0"/>
          </a:p>
        </p:txBody>
      </p:sp>
      <p:sp>
        <p:nvSpPr>
          <p:cNvPr id="8" name="Text 6"/>
          <p:cNvSpPr/>
          <p:nvPr/>
        </p:nvSpPr>
        <p:spPr>
          <a:xfrm>
            <a:off x="685800" y="1965960"/>
            <a:ext cx="3291840" cy="502920"/>
          </a:xfrm>
          <a:prstGeom prst="rect">
            <a:avLst/>
          </a:prstGeom>
          <a:noFill/>
          <a:ln/>
        </p:spPr>
        <p:txBody>
          <a:bodyPr wrap="square" lIns="0" tIns="0" rIns="0" bIns="0" rtlCol="0" anchor="t"/>
          <a:lstStyle/>
          <a:p>
            <a:pPr algn="l" indent="0" marL="0">
              <a:buNone/>
            </a:pPr>
            <a:r>
              <a:rPr lang="en-US" sz="1800" b="1" dirty="0">
                <a:solidFill>
                  <a:srgbClr val="1F3864"/>
                </a:solidFill>
                <a:latin typeface="Arial" pitchFamily="34" charset="0"/>
                <a:ea typeface="Arial" pitchFamily="34" charset="-122"/>
                <a:cs typeface="Arial" pitchFamily="34" charset="-120"/>
              </a:rPr>
              <a:t>Computational cost</a:t>
            </a:r>
            <a:endParaRPr lang="en-US" sz="1800" dirty="0"/>
          </a:p>
        </p:txBody>
      </p:sp>
      <p:sp>
        <p:nvSpPr>
          <p:cNvPr id="9" name="Text 7"/>
          <p:cNvSpPr/>
          <p:nvPr/>
        </p:nvSpPr>
        <p:spPr>
          <a:xfrm>
            <a:off x="685800" y="2514600"/>
            <a:ext cx="3291840" cy="2377440"/>
          </a:xfrm>
          <a:prstGeom prst="rect">
            <a:avLst/>
          </a:prstGeom>
          <a:noFill/>
          <a:ln/>
        </p:spPr>
        <p:txBody>
          <a:bodyPr wrap="square" rtlCol="0" anchor="t"/>
          <a:lstStyle/>
          <a:p>
            <a:pPr algn="l" indent="0" marL="0">
              <a:buNone/>
            </a:pPr>
            <a:r>
              <a:rPr lang="en-US" sz="1300" dirty="0">
                <a:solidFill>
                  <a:srgbClr val="212121"/>
                </a:solidFill>
                <a:latin typeface="Arial" pitchFamily="34" charset="0"/>
                <a:ea typeface="Arial" pitchFamily="34" charset="-122"/>
                <a:cs typeface="Arial" pitchFamily="34" charset="-120"/>
              </a:rPr>
              <a:t>Deep IDS models require GPU training and high memory; full feature spaces of modern flow datasets are expensive to process.</a:t>
            </a:r>
            <a:endParaRPr lang="en-US" sz="1300" dirty="0"/>
          </a:p>
        </p:txBody>
      </p:sp>
      <p:sp>
        <p:nvSpPr>
          <p:cNvPr id="10" name="Shape 8"/>
          <p:cNvSpPr/>
          <p:nvPr/>
        </p:nvSpPr>
        <p:spPr>
          <a:xfrm>
            <a:off x="4361688" y="1097280"/>
            <a:ext cx="3657600" cy="4297680"/>
          </a:xfrm>
          <a:prstGeom prst="rect">
            <a:avLst/>
          </a:prstGeom>
          <a:solidFill>
            <a:srgbClr val="FFFFFF"/>
          </a:solidFill>
          <a:ln w="12700">
            <a:solidFill>
              <a:srgbClr val="D0D0D0"/>
            </a:solidFill>
            <a:prstDash val="solid"/>
          </a:ln>
          <a:effectLst>
            <a:outerShdw sx="100000" sy="100000" kx="0" ky="0" algn="bl" rotWithShape="0" blurRad="76200" dist="25400" dir="8100000">
              <a:srgbClr val="000000">
                <a:alpha val="10000"/>
              </a:srgbClr>
            </a:outerShdw>
          </a:effectLst>
        </p:spPr>
      </p:sp>
      <p:sp>
        <p:nvSpPr>
          <p:cNvPr id="11" name="Shape 9"/>
          <p:cNvSpPr/>
          <p:nvPr/>
        </p:nvSpPr>
        <p:spPr>
          <a:xfrm>
            <a:off x="4361688" y="1097280"/>
            <a:ext cx="3657600" cy="109728"/>
          </a:xfrm>
          <a:prstGeom prst="rect">
            <a:avLst/>
          </a:prstGeom>
          <a:solidFill>
            <a:srgbClr val="2E74B5"/>
          </a:solidFill>
          <a:ln w="12700">
            <a:solidFill>
              <a:srgbClr val="2E74B5"/>
            </a:solidFill>
            <a:prstDash val="solid"/>
          </a:ln>
        </p:spPr>
      </p:sp>
      <p:sp>
        <p:nvSpPr>
          <p:cNvPr id="12" name="Text 10"/>
          <p:cNvSpPr/>
          <p:nvPr/>
        </p:nvSpPr>
        <p:spPr>
          <a:xfrm>
            <a:off x="4590288" y="1325880"/>
            <a:ext cx="548640" cy="548640"/>
          </a:xfrm>
          <a:prstGeom prst="rect">
            <a:avLst/>
          </a:prstGeom>
          <a:noFill/>
          <a:ln/>
        </p:spPr>
        <p:txBody>
          <a:bodyPr wrap="square" lIns="0" tIns="0" rIns="0" bIns="0" rtlCol="0" anchor="ctr"/>
          <a:lstStyle/>
          <a:p>
            <a:pPr algn="l" indent="0" marL="0">
              <a:buNone/>
            </a:pPr>
            <a:r>
              <a:rPr lang="en-US" sz="3600" b="1" dirty="0">
                <a:solidFill>
                  <a:srgbClr val="2E74B5"/>
                </a:solidFill>
                <a:latin typeface="Arial" pitchFamily="34" charset="0"/>
                <a:ea typeface="Arial" pitchFamily="34" charset="-122"/>
                <a:cs typeface="Arial" pitchFamily="34" charset="-120"/>
              </a:rPr>
              <a:t>2</a:t>
            </a:r>
            <a:endParaRPr lang="en-US" sz="3600" dirty="0"/>
          </a:p>
        </p:txBody>
      </p:sp>
      <p:sp>
        <p:nvSpPr>
          <p:cNvPr id="13" name="Text 11"/>
          <p:cNvSpPr/>
          <p:nvPr/>
        </p:nvSpPr>
        <p:spPr>
          <a:xfrm>
            <a:off x="4590288" y="1965960"/>
            <a:ext cx="3291840" cy="502920"/>
          </a:xfrm>
          <a:prstGeom prst="rect">
            <a:avLst/>
          </a:prstGeom>
          <a:noFill/>
          <a:ln/>
        </p:spPr>
        <p:txBody>
          <a:bodyPr wrap="square" lIns="0" tIns="0" rIns="0" bIns="0" rtlCol="0" anchor="t"/>
          <a:lstStyle/>
          <a:p>
            <a:pPr algn="l" indent="0" marL="0">
              <a:buNone/>
            </a:pPr>
            <a:r>
              <a:rPr lang="en-US" sz="1800" b="1" dirty="0">
                <a:solidFill>
                  <a:srgbClr val="1F3864"/>
                </a:solidFill>
                <a:latin typeface="Arial" pitchFamily="34" charset="0"/>
                <a:ea typeface="Arial" pitchFamily="34" charset="-122"/>
                <a:cs typeface="Arial" pitchFamily="34" charset="-120"/>
              </a:rPr>
              <a:t>Opacity</a:t>
            </a:r>
            <a:endParaRPr lang="en-US" sz="1800" dirty="0"/>
          </a:p>
        </p:txBody>
      </p:sp>
      <p:sp>
        <p:nvSpPr>
          <p:cNvPr id="14" name="Text 12"/>
          <p:cNvSpPr/>
          <p:nvPr/>
        </p:nvSpPr>
        <p:spPr>
          <a:xfrm>
            <a:off x="4590288" y="2514600"/>
            <a:ext cx="3291840" cy="2377440"/>
          </a:xfrm>
          <a:prstGeom prst="rect">
            <a:avLst/>
          </a:prstGeom>
          <a:noFill/>
          <a:ln/>
        </p:spPr>
        <p:txBody>
          <a:bodyPr wrap="square" rtlCol="0" anchor="t"/>
          <a:lstStyle/>
          <a:p>
            <a:pPr algn="l" indent="0" marL="0">
              <a:buNone/>
            </a:pPr>
            <a:r>
              <a:rPr lang="en-US" sz="1300" dirty="0">
                <a:solidFill>
                  <a:srgbClr val="212121"/>
                </a:solidFill>
                <a:latin typeface="Arial" pitchFamily="34" charset="0"/>
                <a:ea typeface="Arial" pitchFamily="34" charset="-122"/>
                <a:cs typeface="Arial" pitchFamily="34" charset="-120"/>
              </a:rPr>
              <a:t>Analysts cannot easily explain why a deep model raised an alert. This blocks operational trust and conflicts with the GDPR right to explanation.</a:t>
            </a:r>
            <a:endParaRPr lang="en-US" sz="1300" dirty="0"/>
          </a:p>
        </p:txBody>
      </p:sp>
      <p:sp>
        <p:nvSpPr>
          <p:cNvPr id="15" name="Shape 13"/>
          <p:cNvSpPr/>
          <p:nvPr/>
        </p:nvSpPr>
        <p:spPr>
          <a:xfrm>
            <a:off x="8266176" y="1097280"/>
            <a:ext cx="3657600" cy="4297680"/>
          </a:xfrm>
          <a:prstGeom prst="rect">
            <a:avLst/>
          </a:prstGeom>
          <a:solidFill>
            <a:srgbClr val="FFFFFF"/>
          </a:solidFill>
          <a:ln w="12700">
            <a:solidFill>
              <a:srgbClr val="D0D0D0"/>
            </a:solidFill>
            <a:prstDash val="solid"/>
          </a:ln>
          <a:effectLst>
            <a:outerShdw sx="100000" sy="100000" kx="0" ky="0" algn="bl" rotWithShape="0" blurRad="76200" dist="25400" dir="8100000">
              <a:srgbClr val="000000">
                <a:alpha val="10000"/>
              </a:srgbClr>
            </a:outerShdw>
          </a:effectLst>
        </p:spPr>
      </p:sp>
      <p:sp>
        <p:nvSpPr>
          <p:cNvPr id="16" name="Shape 14"/>
          <p:cNvSpPr/>
          <p:nvPr/>
        </p:nvSpPr>
        <p:spPr>
          <a:xfrm>
            <a:off x="8266176" y="1097280"/>
            <a:ext cx="3657600" cy="109728"/>
          </a:xfrm>
          <a:prstGeom prst="rect">
            <a:avLst/>
          </a:prstGeom>
          <a:solidFill>
            <a:srgbClr val="E65100"/>
          </a:solidFill>
          <a:ln w="12700">
            <a:solidFill>
              <a:srgbClr val="E65100"/>
            </a:solidFill>
            <a:prstDash val="solid"/>
          </a:ln>
        </p:spPr>
      </p:sp>
      <p:sp>
        <p:nvSpPr>
          <p:cNvPr id="17" name="Text 15"/>
          <p:cNvSpPr/>
          <p:nvPr/>
        </p:nvSpPr>
        <p:spPr>
          <a:xfrm>
            <a:off x="8494776" y="1325880"/>
            <a:ext cx="548640" cy="548640"/>
          </a:xfrm>
          <a:prstGeom prst="rect">
            <a:avLst/>
          </a:prstGeom>
          <a:noFill/>
          <a:ln/>
        </p:spPr>
        <p:txBody>
          <a:bodyPr wrap="square" lIns="0" tIns="0" rIns="0" bIns="0" rtlCol="0" anchor="ctr"/>
          <a:lstStyle/>
          <a:p>
            <a:pPr algn="l" indent="0" marL="0">
              <a:buNone/>
            </a:pPr>
            <a:r>
              <a:rPr lang="en-US" sz="3600" b="1" dirty="0">
                <a:solidFill>
                  <a:srgbClr val="E65100"/>
                </a:solidFill>
                <a:latin typeface="Arial" pitchFamily="34" charset="0"/>
                <a:ea typeface="Arial" pitchFamily="34" charset="-122"/>
                <a:cs typeface="Arial" pitchFamily="34" charset="-120"/>
              </a:rPr>
              <a:t>3</a:t>
            </a:r>
            <a:endParaRPr lang="en-US" sz="3600" dirty="0"/>
          </a:p>
        </p:txBody>
      </p:sp>
      <p:sp>
        <p:nvSpPr>
          <p:cNvPr id="18" name="Text 16"/>
          <p:cNvSpPr/>
          <p:nvPr/>
        </p:nvSpPr>
        <p:spPr>
          <a:xfrm>
            <a:off x="8494776" y="1965960"/>
            <a:ext cx="3291840" cy="502920"/>
          </a:xfrm>
          <a:prstGeom prst="rect">
            <a:avLst/>
          </a:prstGeom>
          <a:noFill/>
          <a:ln/>
        </p:spPr>
        <p:txBody>
          <a:bodyPr wrap="square" lIns="0" tIns="0" rIns="0" bIns="0" rtlCol="0" anchor="t"/>
          <a:lstStyle/>
          <a:p>
            <a:pPr algn="l" indent="0" marL="0">
              <a:buNone/>
            </a:pPr>
            <a:r>
              <a:rPr lang="en-US" sz="1800" b="1" dirty="0">
                <a:solidFill>
                  <a:srgbClr val="1F3864"/>
                </a:solidFill>
                <a:latin typeface="Arial" pitchFamily="34" charset="0"/>
                <a:ea typeface="Arial" pitchFamily="34" charset="-122"/>
                <a:cs typeface="Arial" pitchFamily="34" charset="-120"/>
              </a:rPr>
              <a:t>Class imbalance</a:t>
            </a:r>
            <a:endParaRPr lang="en-US" sz="1800" dirty="0"/>
          </a:p>
        </p:txBody>
      </p:sp>
      <p:sp>
        <p:nvSpPr>
          <p:cNvPr id="19" name="Text 17"/>
          <p:cNvSpPr/>
          <p:nvPr/>
        </p:nvSpPr>
        <p:spPr>
          <a:xfrm>
            <a:off x="8494776" y="2514600"/>
            <a:ext cx="3291840" cy="2377440"/>
          </a:xfrm>
          <a:prstGeom prst="rect">
            <a:avLst/>
          </a:prstGeom>
          <a:noFill/>
          <a:ln/>
        </p:spPr>
        <p:txBody>
          <a:bodyPr wrap="square" rtlCol="0" anchor="t"/>
          <a:lstStyle/>
          <a:p>
            <a:pPr algn="l" indent="0" marL="0">
              <a:buNone/>
            </a:pPr>
            <a:r>
              <a:rPr lang="en-US" sz="1300" dirty="0">
                <a:solidFill>
                  <a:srgbClr val="212121"/>
                </a:solidFill>
                <a:latin typeface="Arial" pitchFamily="34" charset="0"/>
                <a:ea typeface="Arial" pitchFamily="34" charset="-122"/>
                <a:cs typeface="Arial" pitchFamily="34" charset="-120"/>
              </a:rPr>
              <a:t>In CICIDS2017, benign flows outnumber rare attacks (Heartbleed, Infiltration) by 3–5 orders of magnitude, biasing models towards majority class.</a:t>
            </a:r>
            <a:endParaRPr lang="en-US" sz="1300" dirty="0"/>
          </a:p>
        </p:txBody>
      </p:sp>
      <p:sp>
        <p:nvSpPr>
          <p:cNvPr id="20" name="Text 18"/>
          <p:cNvSpPr/>
          <p:nvPr/>
        </p:nvSpPr>
        <p:spPr>
          <a:xfrm>
            <a:off x="457200" y="5669280"/>
            <a:ext cx="11247120" cy="457200"/>
          </a:xfrm>
          <a:prstGeom prst="rect">
            <a:avLst/>
          </a:prstGeom>
          <a:noFill/>
          <a:ln/>
        </p:spPr>
        <p:txBody>
          <a:bodyPr wrap="square" rtlCol="0" anchor="ctr"/>
          <a:lstStyle/>
          <a:p>
            <a:pPr algn="ctr" indent="0" marL="0">
              <a:buNone/>
            </a:pPr>
            <a:r>
              <a:rPr lang="en-US" sz="1600" b="1" i="1" dirty="0">
                <a:solidFill>
                  <a:srgbClr val="1F3864"/>
                </a:solidFill>
                <a:latin typeface="Arial" pitchFamily="34" charset="0"/>
                <a:ea typeface="Arial" pitchFamily="34" charset="-122"/>
                <a:cs typeface="Arial" pitchFamily="34" charset="-120"/>
              </a:rPr>
              <a:t>This project addresses all three concerns in a single end-to-end pipeline.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Research questions</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3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Shape 3"/>
          <p:cNvSpPr/>
          <p:nvPr/>
        </p:nvSpPr>
        <p:spPr>
          <a:xfrm>
            <a:off x="640080" y="1280160"/>
            <a:ext cx="1280160" cy="640080"/>
          </a:xfrm>
          <a:prstGeom prst="rect">
            <a:avLst/>
          </a:prstGeom>
          <a:solidFill>
            <a:srgbClr val="1F3864"/>
          </a:solidFill>
          <a:ln w="12700">
            <a:solidFill>
              <a:srgbClr val="1F3864"/>
            </a:solidFill>
            <a:prstDash val="solid"/>
          </a:ln>
        </p:spPr>
      </p:sp>
      <p:sp>
        <p:nvSpPr>
          <p:cNvPr id="6" name="Text 4"/>
          <p:cNvSpPr/>
          <p:nvPr/>
        </p:nvSpPr>
        <p:spPr>
          <a:xfrm>
            <a:off x="640080" y="1280160"/>
            <a:ext cx="12801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RQ1</a:t>
            </a:r>
            <a:endParaRPr lang="en-US" sz="2200" dirty="0"/>
          </a:p>
        </p:txBody>
      </p:sp>
      <p:sp>
        <p:nvSpPr>
          <p:cNvPr id="7" name="Text 5"/>
          <p:cNvSpPr/>
          <p:nvPr/>
        </p:nvSpPr>
        <p:spPr>
          <a:xfrm>
            <a:off x="2103120" y="1280160"/>
            <a:ext cx="9509760" cy="1280160"/>
          </a:xfrm>
          <a:prstGeom prst="rect">
            <a:avLst/>
          </a:prstGeom>
          <a:noFill/>
          <a:ln/>
        </p:spPr>
        <p:txBody>
          <a:bodyPr wrap="square" rtlCol="0" anchor="ctr"/>
          <a:lstStyle/>
          <a:p>
            <a:pPr algn="l" indent="0" marL="0">
              <a:buNone/>
            </a:pPr>
            <a:r>
              <a:rPr lang="en-US" sz="1600" dirty="0">
                <a:solidFill>
                  <a:srgbClr val="212121"/>
                </a:solidFill>
                <a:latin typeface="Arial" pitchFamily="34" charset="0"/>
                <a:ea typeface="Arial" pitchFamily="34" charset="-122"/>
                <a:cs typeface="Arial" pitchFamily="34" charset="-120"/>
              </a:rPr>
              <a:t>Can correlation-based feature selection meaningfully reduce the 78-feature CICIDS2017 input space without harming detection accuracy?</a:t>
            </a:r>
            <a:endParaRPr lang="en-US" sz="1600" dirty="0"/>
          </a:p>
        </p:txBody>
      </p:sp>
      <p:sp>
        <p:nvSpPr>
          <p:cNvPr id="8" name="Shape 6"/>
          <p:cNvSpPr/>
          <p:nvPr/>
        </p:nvSpPr>
        <p:spPr>
          <a:xfrm>
            <a:off x="640080" y="2834640"/>
            <a:ext cx="1280160" cy="640080"/>
          </a:xfrm>
          <a:prstGeom prst="rect">
            <a:avLst/>
          </a:prstGeom>
          <a:solidFill>
            <a:srgbClr val="1F3864"/>
          </a:solidFill>
          <a:ln w="12700">
            <a:solidFill>
              <a:srgbClr val="1F3864"/>
            </a:solidFill>
            <a:prstDash val="solid"/>
          </a:ln>
        </p:spPr>
      </p:sp>
      <p:sp>
        <p:nvSpPr>
          <p:cNvPr id="9" name="Text 7"/>
          <p:cNvSpPr/>
          <p:nvPr/>
        </p:nvSpPr>
        <p:spPr>
          <a:xfrm>
            <a:off x="640080" y="2834640"/>
            <a:ext cx="12801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RQ2</a:t>
            </a:r>
            <a:endParaRPr lang="en-US" sz="2200" dirty="0"/>
          </a:p>
        </p:txBody>
      </p:sp>
      <p:sp>
        <p:nvSpPr>
          <p:cNvPr id="10" name="Text 8"/>
          <p:cNvSpPr/>
          <p:nvPr/>
        </p:nvSpPr>
        <p:spPr>
          <a:xfrm>
            <a:off x="2103120" y="2834640"/>
            <a:ext cx="9509760" cy="1280160"/>
          </a:xfrm>
          <a:prstGeom prst="rect">
            <a:avLst/>
          </a:prstGeom>
          <a:noFill/>
          <a:ln/>
        </p:spPr>
        <p:txBody>
          <a:bodyPr wrap="square" rtlCol="0" anchor="ctr"/>
          <a:lstStyle/>
          <a:p>
            <a:pPr algn="l" indent="0" marL="0">
              <a:buNone/>
            </a:pPr>
            <a:r>
              <a:rPr lang="en-US" sz="1600" dirty="0">
                <a:solidFill>
                  <a:srgbClr val="212121"/>
                </a:solidFill>
                <a:latin typeface="Arial" pitchFamily="34" charset="0"/>
                <a:ea typeface="Arial" pitchFamily="34" charset="-122"/>
                <a:cs typeface="Arial" pitchFamily="34" charset="-120"/>
              </a:rPr>
              <a:t>Does a hybrid CNN-LSTM model outperform a stacked LSTM baseline (the base paper), a Random Forest, and an XGBoost+SMOTE classifier on the same selected features?</a:t>
            </a:r>
            <a:endParaRPr lang="en-US" sz="1600" dirty="0"/>
          </a:p>
        </p:txBody>
      </p:sp>
      <p:sp>
        <p:nvSpPr>
          <p:cNvPr id="11" name="Shape 9"/>
          <p:cNvSpPr/>
          <p:nvPr/>
        </p:nvSpPr>
        <p:spPr>
          <a:xfrm>
            <a:off x="640080" y="4389120"/>
            <a:ext cx="1280160" cy="640080"/>
          </a:xfrm>
          <a:prstGeom prst="rect">
            <a:avLst/>
          </a:prstGeom>
          <a:solidFill>
            <a:srgbClr val="1F3864"/>
          </a:solidFill>
          <a:ln w="12700">
            <a:solidFill>
              <a:srgbClr val="1F3864"/>
            </a:solidFill>
            <a:prstDash val="solid"/>
          </a:ln>
        </p:spPr>
      </p:sp>
      <p:sp>
        <p:nvSpPr>
          <p:cNvPr id="12" name="Text 10"/>
          <p:cNvSpPr/>
          <p:nvPr/>
        </p:nvSpPr>
        <p:spPr>
          <a:xfrm>
            <a:off x="640080" y="4389120"/>
            <a:ext cx="128016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RQ3</a:t>
            </a:r>
            <a:endParaRPr lang="en-US" sz="2200" dirty="0"/>
          </a:p>
        </p:txBody>
      </p:sp>
      <p:sp>
        <p:nvSpPr>
          <p:cNvPr id="13" name="Text 11"/>
          <p:cNvSpPr/>
          <p:nvPr/>
        </p:nvSpPr>
        <p:spPr>
          <a:xfrm>
            <a:off x="2103120" y="4389120"/>
            <a:ext cx="9509760" cy="1280160"/>
          </a:xfrm>
          <a:prstGeom prst="rect">
            <a:avLst/>
          </a:prstGeom>
          <a:noFill/>
          <a:ln/>
        </p:spPr>
        <p:txBody>
          <a:bodyPr wrap="square" rtlCol="0" anchor="ctr"/>
          <a:lstStyle/>
          <a:p>
            <a:pPr algn="l" indent="0" marL="0">
              <a:buNone/>
            </a:pPr>
            <a:r>
              <a:rPr lang="en-US" sz="1600" dirty="0">
                <a:solidFill>
                  <a:srgbClr val="212121"/>
                </a:solidFill>
                <a:latin typeface="Arial" pitchFamily="34" charset="0"/>
                <a:ea typeface="Arial" pitchFamily="34" charset="-122"/>
                <a:cs typeface="Arial" pitchFamily="34" charset="-120"/>
              </a:rPr>
              <a:t>Which features drive the trained models’ attack-class predictions, and can SHAP make those decisions interpretable enough to support analyst triage?</a:t>
            </a:r>
            <a:endParaRPr lang="en-US" sz="1600" dirty="0"/>
          </a:p>
        </p:txBody>
      </p:sp>
      <p:sp>
        <p:nvSpPr>
          <p:cNvPr id="14" name="Text 12"/>
          <p:cNvSpPr/>
          <p:nvPr/>
        </p:nvSpPr>
        <p:spPr>
          <a:xfrm>
            <a:off x="640080" y="5943600"/>
            <a:ext cx="10972800" cy="457200"/>
          </a:xfrm>
          <a:prstGeom prst="rect">
            <a:avLst/>
          </a:prstGeom>
          <a:noFill/>
          <a:ln/>
        </p:spPr>
        <p:txBody>
          <a:bodyPr wrap="square" rtlCol="0" anchor="ctr"/>
          <a:lstStyle/>
          <a:p>
            <a:pPr algn="l" indent="0" marL="0">
              <a:buNone/>
            </a:pPr>
            <a:r>
              <a:rPr lang="en-US" sz="1200" i="1" dirty="0">
                <a:solidFill>
                  <a:srgbClr val="666666"/>
                </a:solidFill>
                <a:latin typeface="Arial" pitchFamily="34" charset="0"/>
                <a:ea typeface="Arial" pitchFamily="34" charset="-122"/>
                <a:cs typeface="Arial" pitchFamily="34" charset="-120"/>
              </a:rPr>
              <a:t>Three contributions: (1) reproducible CFS+4-model+SHAP pipeline, (2) honest comparison of hybrid vs classical baselines, (3) SHAP attribution on a modern benchmark.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System architecture</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4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pic>
        <p:nvPicPr>
          <p:cNvPr id="5" name="Image 0" descr="/home/claude/project/architecture.png">    </p:cNvPr>
          <p:cNvPicPr>
            <a:picLocks noChangeAspect="1"/>
          </p:cNvPicPr>
          <p:nvPr/>
        </p:nvPicPr>
        <p:blipFill>
          <a:blip r:embed="rId1"/>
          <a:stretch>
            <a:fillRect/>
          </a:stretch>
        </p:blipFill>
        <p:spPr>
          <a:xfrm>
            <a:off x="1585410" y="960120"/>
            <a:ext cx="8990701" cy="5394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Dataset: CICIDS2017</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5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Text 3"/>
          <p:cNvSpPr/>
          <p:nvPr/>
        </p:nvSpPr>
        <p:spPr>
          <a:xfrm>
            <a:off x="457200" y="1097280"/>
            <a:ext cx="5029200" cy="5029200"/>
          </a:xfrm>
          <a:prstGeom prst="rect">
            <a:avLst/>
          </a:prstGeom>
          <a:noFill/>
          <a:ln/>
        </p:spPr>
        <p:txBody>
          <a:bodyPr wrap="square" rtlCol="0" anchor="t"/>
          <a:lstStyle/>
          <a:p>
            <a:pPr algn="l" indent="0" marL="0">
              <a:buNone/>
            </a:pPr>
            <a:r>
              <a:rPr lang="en-US" sz="1600" b="1" dirty="0">
                <a:solidFill>
                  <a:srgbClr val="1F3864"/>
                </a:solidFill>
                <a:latin typeface="Arial" pitchFamily="34" charset="0"/>
                <a:ea typeface="Arial" pitchFamily="34" charset="-122"/>
                <a:cs typeface="Arial" pitchFamily="34" charset="-120"/>
              </a:rPr>
              <a:t>CICIDS2017 (Sharafaldin et al., 2018)</a:t>
            </a:r>
            <a:endParaRPr lang="en-US" sz="1600" dirty="0"/>
          </a:p>
          <a:p>
            <a:pPr algn="l" indent="0" marL="0">
              <a:buNone/>
            </a:pPr>
            <a:r>
              <a:rPr lang="en-US" sz="1300" i="1" dirty="0">
                <a:solidFill>
                  <a:srgbClr val="666666"/>
                </a:solidFill>
                <a:latin typeface="Arial" pitchFamily="34" charset="0"/>
                <a:ea typeface="Arial" pitchFamily="34" charset="-122"/>
                <a:cs typeface="Arial" pitchFamily="34" charset="-120"/>
              </a:rPr>
              <a:t>Canadian Institute for Cybersecurity</a:t>
            </a:r>
            <a:endParaRPr lang="en-US" sz="1600" dirty="0"/>
          </a:p>
          <a:p>
            <a:pPr algn="l" indent="0" marL="0">
              <a:buNone/>
            </a:pPr>
            <a:r>
              <a:rPr lang="en-US" sz="800" dirty="0">
                <a:solidFill>
                  <a:srgbClr val="000000"/>
                </a:solidFill>
                <a:latin typeface="Arial" pitchFamily="34" charset="0"/>
                <a:ea typeface="Arial" pitchFamily="34" charset="-122"/>
                <a:cs typeface="Arial" pitchFamily="34" charset="-120"/>
              </a:rPr>
              <a:t> </a:t>
            </a:r>
            <a:endParaRPr lang="en-US" sz="1600" dirty="0"/>
          </a:p>
          <a:p>
            <a:pPr algn="l" marL="342900" indent="-342900">
              <a:buSzPct val="100000"/>
              <a:buChar char="•"/>
            </a:pPr>
            <a:r>
              <a:rPr lang="en-US" sz="1400" dirty="0">
                <a:solidFill>
                  <a:srgbClr val="212121"/>
                </a:solidFill>
                <a:latin typeface="Arial" pitchFamily="34" charset="0"/>
                <a:ea typeface="Arial" pitchFamily="34" charset="-122"/>
                <a:cs typeface="Arial" pitchFamily="34" charset="-120"/>
              </a:rPr>
              <a:t>5 days of realistic enterprise traffic</a:t>
            </a:r>
            <a:endParaRPr lang="en-US" sz="1600" dirty="0"/>
          </a:p>
          <a:p>
            <a:pPr algn="l" marL="342900" indent="-342900">
              <a:buSzPct val="100000"/>
              <a:buChar char="•"/>
            </a:pPr>
            <a:r>
              <a:rPr lang="en-US" sz="1400" dirty="0">
                <a:solidFill>
                  <a:srgbClr val="212121"/>
                </a:solidFill>
                <a:latin typeface="Arial" pitchFamily="34" charset="0"/>
                <a:ea typeface="Arial" pitchFamily="34" charset="-122"/>
                <a:cs typeface="Arial" pitchFamily="34" charset="-120"/>
              </a:rPr>
              <a:t>2.83 million flows · 78 statistical features</a:t>
            </a:r>
            <a:endParaRPr lang="en-US" sz="1600" dirty="0"/>
          </a:p>
          <a:p>
            <a:pPr algn="l" marL="342900" indent="-342900">
              <a:buSzPct val="100000"/>
              <a:buChar char="•"/>
            </a:pPr>
            <a:r>
              <a:rPr lang="en-US" sz="1400" dirty="0">
                <a:solidFill>
                  <a:srgbClr val="212121"/>
                </a:solidFill>
                <a:latin typeface="Arial" pitchFamily="34" charset="0"/>
                <a:ea typeface="Arial" pitchFamily="34" charset="-122"/>
                <a:cs typeface="Arial" pitchFamily="34" charset="-120"/>
              </a:rPr>
              <a:t>7 attack categories: DoS, DDoS, brute force, port scan, web attack, infiltration, botnet</a:t>
            </a:r>
            <a:endParaRPr lang="en-US" sz="1600" dirty="0"/>
          </a:p>
          <a:p>
            <a:pPr algn="l" marL="342900" indent="-342900">
              <a:buSzPct val="100000"/>
              <a:buChar char="•"/>
            </a:pPr>
            <a:r>
              <a:rPr lang="en-US" sz="1400" b="1" dirty="0">
                <a:solidFill>
                  <a:srgbClr val="E65100"/>
                </a:solidFill>
                <a:latin typeface="Arial" pitchFamily="34" charset="0"/>
                <a:ea typeface="Arial" pitchFamily="34" charset="-122"/>
                <a:cs typeface="Arial" pitchFamily="34" charset="-120"/>
              </a:rPr>
              <a:t>Severe class imbalance (3–5 orders of magnitude)</a:t>
            </a:r>
            <a:endParaRPr lang="en-US" sz="1600" dirty="0"/>
          </a:p>
          <a:p>
            <a:pPr algn="l" indent="0" marL="0">
              <a:buNone/>
            </a:pPr>
            <a:r>
              <a:rPr lang="en-US" sz="800" dirty="0">
                <a:solidFill>
                  <a:srgbClr val="000000"/>
                </a:solidFill>
                <a:latin typeface="Arial" pitchFamily="34" charset="0"/>
                <a:ea typeface="Arial" pitchFamily="34" charset="-122"/>
                <a:cs typeface="Arial" pitchFamily="34" charset="-120"/>
              </a:rPr>
              <a:t> </a:t>
            </a:r>
            <a:endParaRPr lang="en-US" sz="1600" dirty="0"/>
          </a:p>
          <a:p>
            <a:pPr algn="l" indent="0" marL="0">
              <a:buNone/>
            </a:pPr>
            <a:r>
              <a:rPr lang="en-US" sz="1400" b="1" dirty="0">
                <a:solidFill>
                  <a:srgbClr val="1F3864"/>
                </a:solidFill>
                <a:latin typeface="Arial" pitchFamily="34" charset="0"/>
                <a:ea typeface="Arial" pitchFamily="34" charset="-122"/>
                <a:cs typeface="Arial" pitchFamily="34" charset="-120"/>
              </a:rPr>
              <a:t>Modelling decision</a:t>
            </a:r>
            <a:endParaRPr lang="en-US" sz="1600" dirty="0"/>
          </a:p>
          <a:p>
            <a:pPr algn="l" indent="0" marL="0">
              <a:buNone/>
            </a:pPr>
            <a:r>
              <a:rPr lang="en-US" sz="1200" i="1" dirty="0">
                <a:solidFill>
                  <a:srgbClr val="666666"/>
                </a:solidFill>
                <a:latin typeface="Arial" pitchFamily="34" charset="0"/>
                <a:ea typeface="Arial" pitchFamily="34" charset="-122"/>
                <a:cs typeface="Arial" pitchFamily="34" charset="-120"/>
              </a:rPr>
              <a:t>Binary task (Benign vs Attack) for tractable 4-day timeline; multi-class is direct extension.</a:t>
            </a:r>
            <a:endParaRPr lang="en-US" sz="1600" dirty="0"/>
          </a:p>
        </p:txBody>
      </p:sp>
      <p:pic>
        <p:nvPicPr>
          <p:cNvPr id="6" name="Image 0" descr="/home/claude/project/figures/class_distribution.png">    </p:cNvPr>
          <p:cNvPicPr>
            <a:picLocks noChangeAspect="1"/>
          </p:cNvPicPr>
          <p:nvPr/>
        </p:nvPicPr>
        <p:blipFill>
          <a:blip r:embed="rId1"/>
          <a:stretch>
            <a:fillRect/>
          </a:stretch>
        </p:blipFill>
        <p:spPr>
          <a:xfrm>
            <a:off x="5760720" y="1280160"/>
            <a:ext cx="6035040" cy="3017520"/>
          </a:xfrm>
          <a:prstGeom prst="rect">
            <a:avLst/>
          </a:prstGeom>
        </p:spPr>
      </p:pic>
      <p:sp>
        <p:nvSpPr>
          <p:cNvPr id="7" name="Text 4"/>
          <p:cNvSpPr/>
          <p:nvPr/>
        </p:nvSpPr>
        <p:spPr>
          <a:xfrm>
            <a:off x="5760720" y="4343400"/>
            <a:ext cx="6035040" cy="45720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Figure 1 in report: log-scale class distribution. Benign flows dominate by 3–5 orders of magnitude.</a:t>
            </a:r>
            <a:endParaRPr lang="en-US" sz="1100" dirty="0"/>
          </a:p>
        </p:txBody>
      </p:sp>
      <p:sp>
        <p:nvSpPr>
          <p:cNvPr id="8" name="Text 5"/>
          <p:cNvSpPr/>
          <p:nvPr/>
        </p:nvSpPr>
        <p:spPr>
          <a:xfrm>
            <a:off x="5760720" y="5029200"/>
            <a:ext cx="2011680" cy="640080"/>
          </a:xfrm>
          <a:prstGeom prst="rect">
            <a:avLst/>
          </a:prstGeom>
          <a:noFill/>
          <a:ln/>
        </p:spPr>
        <p:txBody>
          <a:bodyPr wrap="square" lIns="0" tIns="0" rIns="0" bIns="0" rtlCol="0" anchor="ctr"/>
          <a:lstStyle/>
          <a:p>
            <a:pPr algn="ctr" indent="0" marL="0">
              <a:buNone/>
            </a:pPr>
            <a:r>
              <a:rPr lang="en-US" sz="3200" b="1" dirty="0">
                <a:solidFill>
                  <a:srgbClr val="1F3864"/>
                </a:solidFill>
                <a:latin typeface="Arial" pitchFamily="34" charset="0"/>
                <a:ea typeface="Arial" pitchFamily="34" charset="-122"/>
                <a:cs typeface="Arial" pitchFamily="34" charset="-120"/>
              </a:rPr>
              <a:t>200,000</a:t>
            </a:r>
            <a:endParaRPr lang="en-US" sz="3200" dirty="0"/>
          </a:p>
        </p:txBody>
      </p:sp>
      <p:sp>
        <p:nvSpPr>
          <p:cNvPr id="9" name="Text 6"/>
          <p:cNvSpPr/>
          <p:nvPr/>
        </p:nvSpPr>
        <p:spPr>
          <a:xfrm>
            <a:off x="5760720" y="5669280"/>
            <a:ext cx="2011680" cy="36576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stratified sample</a:t>
            </a:r>
            <a:endParaRPr lang="en-US" sz="1100" dirty="0"/>
          </a:p>
        </p:txBody>
      </p:sp>
      <p:sp>
        <p:nvSpPr>
          <p:cNvPr id="10" name="Text 7"/>
          <p:cNvSpPr/>
          <p:nvPr/>
        </p:nvSpPr>
        <p:spPr>
          <a:xfrm>
            <a:off x="7955280" y="5029200"/>
            <a:ext cx="2011680" cy="640080"/>
          </a:xfrm>
          <a:prstGeom prst="rect">
            <a:avLst/>
          </a:prstGeom>
          <a:noFill/>
          <a:ln/>
        </p:spPr>
        <p:txBody>
          <a:bodyPr wrap="square" lIns="0" tIns="0" rIns="0" bIns="0" rtlCol="0" anchor="ctr"/>
          <a:lstStyle/>
          <a:p>
            <a:pPr algn="ctr" indent="0" marL="0">
              <a:buNone/>
            </a:pPr>
            <a:r>
              <a:rPr lang="en-US" sz="3200" b="1" dirty="0">
                <a:solidFill>
                  <a:srgbClr val="1F3864"/>
                </a:solidFill>
                <a:latin typeface="Arial" pitchFamily="34" charset="0"/>
                <a:ea typeface="Arial" pitchFamily="34" charset="-122"/>
                <a:cs typeface="Arial" pitchFamily="34" charset="-120"/>
              </a:rPr>
              <a:t>80 / 20</a:t>
            </a:r>
            <a:endParaRPr lang="en-US" sz="3200" dirty="0"/>
          </a:p>
        </p:txBody>
      </p:sp>
      <p:sp>
        <p:nvSpPr>
          <p:cNvPr id="11" name="Text 8"/>
          <p:cNvSpPr/>
          <p:nvPr/>
        </p:nvSpPr>
        <p:spPr>
          <a:xfrm>
            <a:off x="7955280" y="5669280"/>
            <a:ext cx="2011680" cy="36576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train / test split</a:t>
            </a:r>
            <a:endParaRPr lang="en-US" sz="1100" dirty="0"/>
          </a:p>
        </p:txBody>
      </p:sp>
      <p:sp>
        <p:nvSpPr>
          <p:cNvPr id="12" name="Text 9"/>
          <p:cNvSpPr/>
          <p:nvPr/>
        </p:nvSpPr>
        <p:spPr>
          <a:xfrm>
            <a:off x="10058400" y="5029200"/>
            <a:ext cx="1737360" cy="640080"/>
          </a:xfrm>
          <a:prstGeom prst="rect">
            <a:avLst/>
          </a:prstGeom>
          <a:noFill/>
          <a:ln/>
        </p:spPr>
        <p:txBody>
          <a:bodyPr wrap="square" lIns="0" tIns="0" rIns="0" bIns="0" rtlCol="0" anchor="ctr"/>
          <a:lstStyle/>
          <a:p>
            <a:pPr algn="ctr" indent="0" marL="0">
              <a:buNone/>
            </a:pPr>
            <a:r>
              <a:rPr lang="en-US" sz="2800" b="1" dirty="0">
                <a:solidFill>
                  <a:srgbClr val="1F3864"/>
                </a:solidFill>
                <a:latin typeface="Arial" pitchFamily="34" charset="0"/>
                <a:ea typeface="Arial" pitchFamily="34" charset="-122"/>
                <a:cs typeface="Arial" pitchFamily="34" charset="-120"/>
              </a:rPr>
              <a:t>seed=42</a:t>
            </a:r>
            <a:endParaRPr lang="en-US" sz="2800" dirty="0"/>
          </a:p>
        </p:txBody>
      </p:sp>
      <p:sp>
        <p:nvSpPr>
          <p:cNvPr id="13" name="Text 10"/>
          <p:cNvSpPr/>
          <p:nvPr/>
        </p:nvSpPr>
        <p:spPr>
          <a:xfrm>
            <a:off x="10058400" y="5669280"/>
            <a:ext cx="1737360" cy="36576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reproducible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Correlation-based feature selection (CFS)</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6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Shape 3"/>
          <p:cNvSpPr/>
          <p:nvPr/>
        </p:nvSpPr>
        <p:spPr>
          <a:xfrm>
            <a:off x="457200" y="1097280"/>
            <a:ext cx="5212080" cy="4937760"/>
          </a:xfrm>
          <a:prstGeom prst="rect">
            <a:avLst/>
          </a:prstGeom>
          <a:solidFill>
            <a:srgbClr val="E8F0FE"/>
          </a:solidFill>
          <a:ln w="12700">
            <a:solidFill>
              <a:srgbClr val="1F3864"/>
            </a:solidFill>
            <a:prstDash val="solid"/>
          </a:ln>
        </p:spPr>
      </p:sp>
      <p:sp>
        <p:nvSpPr>
          <p:cNvPr id="6" name="Text 4"/>
          <p:cNvSpPr/>
          <p:nvPr/>
        </p:nvSpPr>
        <p:spPr>
          <a:xfrm>
            <a:off x="640080" y="1234440"/>
            <a:ext cx="4937760" cy="457200"/>
          </a:xfrm>
          <a:prstGeom prst="rect">
            <a:avLst/>
          </a:prstGeom>
          <a:noFill/>
          <a:ln/>
        </p:spPr>
        <p:txBody>
          <a:bodyPr wrap="square" lIns="0" tIns="0" rIns="0" bIns="0" rtlCol="0" anchor="ctr"/>
          <a:lstStyle/>
          <a:p>
            <a:pPr algn="l" indent="0" marL="0">
              <a:buNone/>
            </a:pPr>
            <a:r>
              <a:rPr lang="en-US" sz="1800" b="1" dirty="0">
                <a:solidFill>
                  <a:srgbClr val="1F3864"/>
                </a:solidFill>
                <a:latin typeface="Arial" pitchFamily="34" charset="0"/>
                <a:ea typeface="Arial" pitchFamily="34" charset="-122"/>
                <a:cs typeface="Arial" pitchFamily="34" charset="-120"/>
              </a:rPr>
              <a:t>Algorithm</a:t>
            </a:r>
            <a:endParaRPr lang="en-US" sz="1800" dirty="0"/>
          </a:p>
        </p:txBody>
      </p:sp>
      <p:sp>
        <p:nvSpPr>
          <p:cNvPr id="7" name="Text 5"/>
          <p:cNvSpPr/>
          <p:nvPr/>
        </p:nvSpPr>
        <p:spPr>
          <a:xfrm>
            <a:off x="640080" y="1691640"/>
            <a:ext cx="4937760" cy="822960"/>
          </a:xfrm>
          <a:prstGeom prst="rect">
            <a:avLst/>
          </a:prstGeom>
          <a:noFill/>
          <a:ln/>
        </p:spPr>
        <p:txBody>
          <a:bodyPr wrap="square" rtlCol="0" anchor="ctr"/>
          <a:lstStyle/>
          <a:p>
            <a:pPr algn="l" indent="0" marL="0">
              <a:buNone/>
            </a:pPr>
            <a:r>
              <a:rPr lang="en-US" sz="1200" i="1" dirty="0">
                <a:solidFill>
                  <a:srgbClr val="666666"/>
                </a:solidFill>
                <a:latin typeface="Arial" pitchFamily="34" charset="0"/>
                <a:ea typeface="Arial" pitchFamily="34" charset="-122"/>
                <a:cs typeface="Arial" pitchFamily="34" charset="-120"/>
              </a:rPr>
              <a:t>Hall (2000): "A good feature subset is highly correlated with the class, but features within the subset are uncorrelated with each other."</a:t>
            </a:r>
            <a:endParaRPr lang="en-US" sz="1200" dirty="0"/>
          </a:p>
        </p:txBody>
      </p:sp>
      <p:sp>
        <p:nvSpPr>
          <p:cNvPr id="8" name="Text 6"/>
          <p:cNvSpPr/>
          <p:nvPr/>
        </p:nvSpPr>
        <p:spPr>
          <a:xfrm>
            <a:off x="640080" y="2606040"/>
            <a:ext cx="4937760" cy="3291840"/>
          </a:xfrm>
          <a:prstGeom prst="rect">
            <a:avLst/>
          </a:prstGeom>
          <a:noFill/>
          <a:ln/>
        </p:spPr>
        <p:txBody>
          <a:bodyPr wrap="square" rtlCol="0" anchor="t"/>
          <a:lstStyle/>
          <a:p>
            <a:pPr algn="l" indent="0" marL="0">
              <a:buNone/>
            </a:pPr>
            <a:r>
              <a:rPr lang="en-US" sz="1400" b="1" dirty="0">
                <a:solidFill>
                  <a:srgbClr val="1F3864"/>
                </a:solidFill>
                <a:latin typeface="Arial" pitchFamily="34" charset="0"/>
                <a:ea typeface="Arial" pitchFamily="34" charset="-122"/>
                <a:cs typeface="Arial" pitchFamily="34" charset="-120"/>
              </a:rPr>
              <a:t>Pass 1 — Class relevance</a:t>
            </a:r>
            <a:endParaRPr lang="en-US" sz="1400" dirty="0"/>
          </a:p>
          <a:p>
            <a:pPr algn="l" indent="0" marL="0">
              <a:buNone/>
            </a:pPr>
            <a:r>
              <a:rPr lang="en-US" sz="1300" dirty="0">
                <a:solidFill>
                  <a:srgbClr val="212121"/>
                </a:solidFill>
                <a:latin typeface="Arial" pitchFamily="34" charset="0"/>
                <a:ea typeface="Arial" pitchFamily="34" charset="-122"/>
                <a:cs typeface="Arial" pitchFamily="34" charset="-120"/>
              </a:rPr>
              <a:t>For each feature f, compute |corr(f, label)|.</a:t>
            </a:r>
            <a:endParaRPr lang="en-US" sz="1400" dirty="0"/>
          </a:p>
          <a:p>
            <a:pPr algn="l" indent="0" marL="0">
              <a:buNone/>
            </a:pPr>
            <a:r>
              <a:rPr lang="en-US" sz="1300" dirty="0">
                <a:solidFill>
                  <a:srgbClr val="212121"/>
                </a:solidFill>
                <a:latin typeface="Arial" pitchFamily="34" charset="0"/>
                <a:ea typeface="Arial" pitchFamily="34" charset="-122"/>
                <a:cs typeface="Arial" pitchFamily="34" charset="-120"/>
              </a:rPr>
              <a:t>Keep features with |corr| &gt; 0.05.</a:t>
            </a:r>
            <a:endParaRPr lang="en-US" sz="1400" dirty="0"/>
          </a:p>
          <a:p>
            <a:pPr algn="l" indent="0" marL="0">
              <a:buNone/>
            </a:pPr>
            <a:r>
              <a:rPr lang="en-US" sz="800" dirty="0">
                <a:solidFill>
                  <a:srgbClr val="000000"/>
                </a:solidFill>
                <a:latin typeface="Arial" pitchFamily="34" charset="0"/>
                <a:ea typeface="Arial" pitchFamily="34" charset="-122"/>
                <a:cs typeface="Arial" pitchFamily="34" charset="-120"/>
              </a:rPr>
              <a:t> </a:t>
            </a:r>
            <a:endParaRPr lang="en-US" sz="1400" dirty="0"/>
          </a:p>
          <a:p>
            <a:pPr algn="l" indent="0" marL="0">
              <a:buNone/>
            </a:pPr>
            <a:r>
              <a:rPr lang="en-US" sz="1400" b="1" dirty="0">
                <a:solidFill>
                  <a:srgbClr val="1F3864"/>
                </a:solidFill>
                <a:latin typeface="Arial" pitchFamily="34" charset="0"/>
                <a:ea typeface="Arial" pitchFamily="34" charset="-122"/>
                <a:cs typeface="Arial" pitchFamily="34" charset="-120"/>
              </a:rPr>
              <a:t>Pass 2 — Redundancy elimination</a:t>
            </a:r>
            <a:endParaRPr lang="en-US" sz="1400" dirty="0"/>
          </a:p>
          <a:p>
            <a:pPr algn="l" indent="0" marL="0">
              <a:buNone/>
            </a:pPr>
            <a:r>
              <a:rPr lang="en-US" sz="1300" dirty="0">
                <a:solidFill>
                  <a:srgbClr val="212121"/>
                </a:solidFill>
                <a:latin typeface="Arial" pitchFamily="34" charset="0"/>
                <a:ea typeface="Arial" pitchFamily="34" charset="-122"/>
                <a:cs typeface="Arial" pitchFamily="34" charset="-120"/>
              </a:rPr>
              <a:t>Sort kept features by |corr| descending.</a:t>
            </a:r>
            <a:endParaRPr lang="en-US" sz="1400" dirty="0"/>
          </a:p>
          <a:p>
            <a:pPr algn="l" indent="0" marL="0">
              <a:buNone/>
            </a:pPr>
            <a:r>
              <a:rPr lang="en-US" sz="1300" dirty="0">
                <a:solidFill>
                  <a:srgbClr val="212121"/>
                </a:solidFill>
                <a:latin typeface="Arial" pitchFamily="34" charset="0"/>
                <a:ea typeface="Arial" pitchFamily="34" charset="-122"/>
                <a:cs typeface="Arial" pitchFamily="34" charset="-120"/>
              </a:rPr>
              <a:t>Walk the list; drop any feature whose pairwise |ρ| with an already-kept feature exceeds 0.95.</a:t>
            </a:r>
            <a:endParaRPr lang="en-US" sz="1400" dirty="0"/>
          </a:p>
          <a:p>
            <a:pPr algn="l" indent="0" marL="0">
              <a:buNone/>
            </a:pPr>
            <a:r>
              <a:rPr lang="en-US" sz="800" dirty="0">
                <a:solidFill>
                  <a:srgbClr val="000000"/>
                </a:solidFill>
                <a:latin typeface="Arial" pitchFamily="34" charset="0"/>
                <a:ea typeface="Arial" pitchFamily="34" charset="-122"/>
                <a:cs typeface="Arial" pitchFamily="34" charset="-120"/>
              </a:rPr>
              <a:t> </a:t>
            </a:r>
            <a:endParaRPr lang="en-US" sz="1400" dirty="0"/>
          </a:p>
          <a:p>
            <a:pPr algn="l" indent="0" marL="0">
              <a:buNone/>
            </a:pPr>
            <a:r>
              <a:rPr lang="en-US" sz="1300" b="1" dirty="0">
                <a:solidFill>
                  <a:srgbClr val="E65100"/>
                </a:solidFill>
                <a:latin typeface="Arial" pitchFamily="34" charset="0"/>
                <a:ea typeface="Arial" pitchFamily="34" charset="-122"/>
                <a:cs typeface="Arial" pitchFamily="34" charset="-120"/>
              </a:rPr>
              <a:t>Result: 78 → ~16 features (~80% reduction)</a:t>
            </a:r>
            <a:endParaRPr lang="en-US" sz="1400" dirty="0"/>
          </a:p>
        </p:txBody>
      </p:sp>
      <p:pic>
        <p:nvPicPr>
          <p:cNvPr id="9" name="Image 0" descr="/home/claude/project/figures/feature_correlation.png">    </p:cNvPr>
          <p:cNvPicPr>
            <a:picLocks noChangeAspect="1"/>
          </p:cNvPicPr>
          <p:nvPr/>
        </p:nvPicPr>
        <p:blipFill>
          <a:blip r:embed="rId1"/>
          <a:srcRect l="0" r="0" t="0" b="0"/>
          <a:stretch/>
        </p:blipFill>
        <p:spPr>
          <a:xfrm>
            <a:off x="5943600" y="1097280"/>
            <a:ext cx="5852160" cy="4389120"/>
          </a:xfrm>
          <a:prstGeom prst="rect">
            <a:avLst/>
          </a:prstGeom>
        </p:spPr>
      </p:pic>
      <p:sp>
        <p:nvSpPr>
          <p:cNvPr id="10" name="Text 7"/>
          <p:cNvSpPr/>
          <p:nvPr/>
        </p:nvSpPr>
        <p:spPr>
          <a:xfrm>
            <a:off x="5943600" y="5532120"/>
            <a:ext cx="5852160" cy="54864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Figure 2 in report: top 20 features by |Pearson correlation| with attack label. Backward packet-length statistics dominate.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Four models compared</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7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Shape 3"/>
          <p:cNvSpPr/>
          <p:nvPr/>
        </p:nvSpPr>
        <p:spPr>
          <a:xfrm>
            <a:off x="457200" y="1097280"/>
            <a:ext cx="2743200" cy="4297680"/>
          </a:xfrm>
          <a:prstGeom prst="rect">
            <a:avLst/>
          </a:prstGeom>
          <a:solidFill>
            <a:srgbClr val="FFFFFF"/>
          </a:solidFill>
          <a:ln w="12700">
            <a:solidFill>
              <a:srgbClr val="1F3864"/>
            </a:solidFill>
            <a:prstDash val="solid"/>
          </a:ln>
          <a:effectLst>
            <a:outerShdw sx="100000" sy="100000" kx="0" ky="0" algn="bl" rotWithShape="0" blurRad="76200" dist="25400" dir="8100000">
              <a:srgbClr val="000000">
                <a:alpha val="10000"/>
              </a:srgbClr>
            </a:outerShdw>
          </a:effectLst>
        </p:spPr>
      </p:sp>
      <p:sp>
        <p:nvSpPr>
          <p:cNvPr id="6" name="Text 4"/>
          <p:cNvSpPr/>
          <p:nvPr/>
        </p:nvSpPr>
        <p:spPr>
          <a:xfrm>
            <a:off x="640080" y="1554480"/>
            <a:ext cx="2468880" cy="457200"/>
          </a:xfrm>
          <a:prstGeom prst="rect">
            <a:avLst/>
          </a:prstGeom>
          <a:noFill/>
          <a:ln/>
        </p:spPr>
        <p:txBody>
          <a:bodyPr wrap="square" lIns="0" tIns="0" rIns="0" bIns="0" rtlCol="0" anchor="ctr"/>
          <a:lstStyle/>
          <a:p>
            <a:pPr algn="l" indent="0" marL="0">
              <a:buNone/>
            </a:pPr>
            <a:r>
              <a:rPr lang="en-US" sz="1700" b="1" dirty="0">
                <a:solidFill>
                  <a:srgbClr val="1F3864"/>
                </a:solidFill>
                <a:latin typeface="Arial" pitchFamily="34" charset="0"/>
                <a:ea typeface="Arial" pitchFamily="34" charset="-122"/>
                <a:cs typeface="Arial" pitchFamily="34" charset="-120"/>
              </a:rPr>
              <a:t>Random Forest</a:t>
            </a:r>
            <a:endParaRPr lang="en-US" sz="1700" dirty="0"/>
          </a:p>
        </p:txBody>
      </p:sp>
      <p:sp>
        <p:nvSpPr>
          <p:cNvPr id="7" name="Text 5"/>
          <p:cNvSpPr/>
          <p:nvPr/>
        </p:nvSpPr>
        <p:spPr>
          <a:xfrm>
            <a:off x="640080" y="2011680"/>
            <a:ext cx="2468880" cy="320040"/>
          </a:xfrm>
          <a:prstGeom prst="rect">
            <a:avLst/>
          </a:prstGeom>
          <a:noFill/>
          <a:ln/>
        </p:spPr>
        <p:txBody>
          <a:bodyPr wrap="square"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Classical baseline</a:t>
            </a:r>
            <a:endParaRPr lang="en-US" sz="1100" dirty="0"/>
          </a:p>
        </p:txBody>
      </p:sp>
      <p:sp>
        <p:nvSpPr>
          <p:cNvPr id="8" name="Text 6"/>
          <p:cNvSpPr/>
          <p:nvPr/>
        </p:nvSpPr>
        <p:spPr>
          <a:xfrm>
            <a:off x="640080" y="2468880"/>
            <a:ext cx="2468880" cy="1463040"/>
          </a:xfrm>
          <a:prstGeom prst="rect">
            <a:avLst/>
          </a:prstGeom>
          <a:noFill/>
          <a:ln/>
        </p:spPr>
        <p:txBody>
          <a:bodyPr wrap="square" rtlCol="0" anchor="t"/>
          <a:lstStyle/>
          <a:p>
            <a:pPr algn="l" indent="0" marL="0">
              <a:buNone/>
            </a:pPr>
            <a:r>
              <a:rPr lang="en-US" sz="1200" dirty="0">
                <a:solidFill>
                  <a:srgbClr val="212121"/>
                </a:solidFill>
                <a:latin typeface="Arial" pitchFamily="34" charset="0"/>
                <a:ea typeface="Arial" pitchFamily="34" charset="-122"/>
                <a:cs typeface="Arial" pitchFamily="34" charset="-120"/>
              </a:rPr>
              <a:t>100 trees · max_depth 20 · scikit-learn</a:t>
            </a:r>
            <a:endParaRPr lang="en-US" sz="1200" dirty="0"/>
          </a:p>
        </p:txBody>
      </p:sp>
      <p:sp>
        <p:nvSpPr>
          <p:cNvPr id="9" name="Shape 7"/>
          <p:cNvSpPr/>
          <p:nvPr/>
        </p:nvSpPr>
        <p:spPr>
          <a:xfrm>
            <a:off x="640080" y="4069080"/>
            <a:ext cx="2377440" cy="0"/>
          </a:xfrm>
          <a:prstGeom prst="line">
            <a:avLst/>
          </a:prstGeom>
          <a:noFill/>
          <a:ln w="12700">
            <a:solidFill>
              <a:srgbClr val="D0D0D0"/>
            </a:solidFill>
            <a:prstDash val="solid"/>
          </a:ln>
        </p:spPr>
      </p:sp>
      <p:sp>
        <p:nvSpPr>
          <p:cNvPr id="10" name="Text 8"/>
          <p:cNvSpPr/>
          <p:nvPr/>
        </p:nvSpPr>
        <p:spPr>
          <a:xfrm>
            <a:off x="640080" y="4160520"/>
            <a:ext cx="2468880" cy="274320"/>
          </a:xfrm>
          <a:prstGeom prst="rect">
            <a:avLst/>
          </a:prstGeom>
          <a:noFill/>
          <a:ln/>
        </p:spPr>
        <p:txBody>
          <a:bodyPr wrap="square" lIns="0" tIns="0" rIns="0" bIns="0" rtlCol="0" anchor="ctr"/>
          <a:lstStyle/>
          <a:p>
            <a:pPr algn="l" indent="0" marL="0">
              <a:buNone/>
            </a:pPr>
            <a:r>
              <a:rPr lang="en-US" sz="1000" i="1" dirty="0">
                <a:solidFill>
                  <a:srgbClr val="666666"/>
                </a:solidFill>
                <a:latin typeface="Arial" pitchFamily="34" charset="0"/>
                <a:ea typeface="Arial" pitchFamily="34" charset="-122"/>
                <a:cs typeface="Arial" pitchFamily="34" charset="-120"/>
              </a:rPr>
              <a:t>Train time</a:t>
            </a:r>
            <a:endParaRPr lang="en-US" sz="1000" dirty="0"/>
          </a:p>
        </p:txBody>
      </p:sp>
      <p:sp>
        <p:nvSpPr>
          <p:cNvPr id="11" name="Text 9"/>
          <p:cNvSpPr/>
          <p:nvPr/>
        </p:nvSpPr>
        <p:spPr>
          <a:xfrm>
            <a:off x="640080" y="4434840"/>
            <a:ext cx="2468880" cy="548640"/>
          </a:xfrm>
          <a:prstGeom prst="rect">
            <a:avLst/>
          </a:prstGeom>
          <a:noFill/>
          <a:ln/>
        </p:spPr>
        <p:txBody>
          <a:bodyPr wrap="square" lIns="0" tIns="0" rIns="0" bIns="0" rtlCol="0" anchor="ctr"/>
          <a:lstStyle/>
          <a:p>
            <a:pPr algn="l" indent="0" marL="0">
              <a:buNone/>
            </a:pPr>
            <a:r>
              <a:rPr lang="en-US" sz="2400" b="1" dirty="0">
                <a:solidFill>
                  <a:srgbClr val="2E7D32"/>
                </a:solidFill>
                <a:latin typeface="Arial" pitchFamily="34" charset="0"/>
                <a:ea typeface="Arial" pitchFamily="34" charset="-122"/>
                <a:cs typeface="Arial" pitchFamily="34" charset="-120"/>
              </a:rPr>
              <a:t>42 s</a:t>
            </a:r>
            <a:endParaRPr lang="en-US" sz="2400" dirty="0"/>
          </a:p>
        </p:txBody>
      </p:sp>
      <p:sp>
        <p:nvSpPr>
          <p:cNvPr id="12" name="Shape 10"/>
          <p:cNvSpPr/>
          <p:nvPr/>
        </p:nvSpPr>
        <p:spPr>
          <a:xfrm>
            <a:off x="3337560" y="1097280"/>
            <a:ext cx="2743200" cy="4297680"/>
          </a:xfrm>
          <a:prstGeom prst="rect">
            <a:avLst/>
          </a:prstGeom>
          <a:solidFill>
            <a:srgbClr val="FFFFFF"/>
          </a:solidFill>
          <a:ln w="12700">
            <a:solidFill>
              <a:srgbClr val="1F3864"/>
            </a:solidFill>
            <a:prstDash val="solid"/>
          </a:ln>
          <a:effectLst>
            <a:outerShdw sx="100000" sy="100000" kx="0" ky="0" algn="bl" rotWithShape="0" blurRad="76200" dist="25400" dir="8100000">
              <a:srgbClr val="000000">
                <a:alpha val="10000"/>
              </a:srgbClr>
            </a:outerShdw>
          </a:effectLst>
        </p:spPr>
      </p:sp>
      <p:sp>
        <p:nvSpPr>
          <p:cNvPr id="13" name="Text 11"/>
          <p:cNvSpPr/>
          <p:nvPr/>
        </p:nvSpPr>
        <p:spPr>
          <a:xfrm>
            <a:off x="3520440" y="1554480"/>
            <a:ext cx="2468880" cy="457200"/>
          </a:xfrm>
          <a:prstGeom prst="rect">
            <a:avLst/>
          </a:prstGeom>
          <a:noFill/>
          <a:ln/>
        </p:spPr>
        <p:txBody>
          <a:bodyPr wrap="square" lIns="0" tIns="0" rIns="0" bIns="0" rtlCol="0" anchor="ctr"/>
          <a:lstStyle/>
          <a:p>
            <a:pPr algn="l" indent="0" marL="0">
              <a:buNone/>
            </a:pPr>
            <a:r>
              <a:rPr lang="en-US" sz="1700" b="1" dirty="0">
                <a:solidFill>
                  <a:srgbClr val="1F3864"/>
                </a:solidFill>
                <a:latin typeface="Arial" pitchFamily="34" charset="0"/>
                <a:ea typeface="Arial" pitchFamily="34" charset="-122"/>
                <a:cs typeface="Arial" pitchFamily="34" charset="-120"/>
              </a:rPr>
              <a:t>LSTM</a:t>
            </a:r>
            <a:endParaRPr lang="en-US" sz="1700" dirty="0"/>
          </a:p>
        </p:txBody>
      </p:sp>
      <p:sp>
        <p:nvSpPr>
          <p:cNvPr id="14" name="Text 12"/>
          <p:cNvSpPr/>
          <p:nvPr/>
        </p:nvSpPr>
        <p:spPr>
          <a:xfrm>
            <a:off x="3520440" y="2011680"/>
            <a:ext cx="2468880" cy="320040"/>
          </a:xfrm>
          <a:prstGeom prst="rect">
            <a:avLst/>
          </a:prstGeom>
          <a:noFill/>
          <a:ln/>
        </p:spPr>
        <p:txBody>
          <a:bodyPr wrap="square"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Base-paper-style</a:t>
            </a:r>
            <a:endParaRPr lang="en-US" sz="1100" dirty="0"/>
          </a:p>
        </p:txBody>
      </p:sp>
      <p:sp>
        <p:nvSpPr>
          <p:cNvPr id="15" name="Text 13"/>
          <p:cNvSpPr/>
          <p:nvPr/>
        </p:nvSpPr>
        <p:spPr>
          <a:xfrm>
            <a:off x="3520440" y="2468880"/>
            <a:ext cx="2468880" cy="1463040"/>
          </a:xfrm>
          <a:prstGeom prst="rect">
            <a:avLst/>
          </a:prstGeom>
          <a:noFill/>
          <a:ln/>
        </p:spPr>
        <p:txBody>
          <a:bodyPr wrap="square" rtlCol="0" anchor="t"/>
          <a:lstStyle/>
          <a:p>
            <a:pPr algn="l" indent="0" marL="0">
              <a:buNone/>
            </a:pPr>
            <a:r>
              <a:rPr lang="en-US" sz="1200" dirty="0">
                <a:solidFill>
                  <a:srgbClr val="212121"/>
                </a:solidFill>
                <a:latin typeface="Arial" pitchFamily="34" charset="0"/>
                <a:ea typeface="Arial" pitchFamily="34" charset="-122"/>
                <a:cs typeface="Arial" pitchFamily="34" charset="-120"/>
              </a:rPr>
              <a:t>2 LSTM layers (64, 32) · dropout 0.3</a:t>
            </a:r>
            <a:endParaRPr lang="en-US" sz="1200" dirty="0"/>
          </a:p>
        </p:txBody>
      </p:sp>
      <p:sp>
        <p:nvSpPr>
          <p:cNvPr id="16" name="Shape 14"/>
          <p:cNvSpPr/>
          <p:nvPr/>
        </p:nvSpPr>
        <p:spPr>
          <a:xfrm>
            <a:off x="3520440" y="4069080"/>
            <a:ext cx="2377440" cy="0"/>
          </a:xfrm>
          <a:prstGeom prst="line">
            <a:avLst/>
          </a:prstGeom>
          <a:noFill/>
          <a:ln w="12700">
            <a:solidFill>
              <a:srgbClr val="D0D0D0"/>
            </a:solidFill>
            <a:prstDash val="solid"/>
          </a:ln>
        </p:spPr>
      </p:sp>
      <p:sp>
        <p:nvSpPr>
          <p:cNvPr id="17" name="Text 15"/>
          <p:cNvSpPr/>
          <p:nvPr/>
        </p:nvSpPr>
        <p:spPr>
          <a:xfrm>
            <a:off x="3520440" y="4160520"/>
            <a:ext cx="2468880" cy="274320"/>
          </a:xfrm>
          <a:prstGeom prst="rect">
            <a:avLst/>
          </a:prstGeom>
          <a:noFill/>
          <a:ln/>
        </p:spPr>
        <p:txBody>
          <a:bodyPr wrap="square" lIns="0" tIns="0" rIns="0" bIns="0" rtlCol="0" anchor="ctr"/>
          <a:lstStyle/>
          <a:p>
            <a:pPr algn="l" indent="0" marL="0">
              <a:buNone/>
            </a:pPr>
            <a:r>
              <a:rPr lang="en-US" sz="1000" i="1" dirty="0">
                <a:solidFill>
                  <a:srgbClr val="666666"/>
                </a:solidFill>
                <a:latin typeface="Arial" pitchFamily="34" charset="0"/>
                <a:ea typeface="Arial" pitchFamily="34" charset="-122"/>
                <a:cs typeface="Arial" pitchFamily="34" charset="-120"/>
              </a:rPr>
              <a:t>Train time</a:t>
            </a:r>
            <a:endParaRPr lang="en-US" sz="1000" dirty="0"/>
          </a:p>
        </p:txBody>
      </p:sp>
      <p:sp>
        <p:nvSpPr>
          <p:cNvPr id="18" name="Text 16"/>
          <p:cNvSpPr/>
          <p:nvPr/>
        </p:nvSpPr>
        <p:spPr>
          <a:xfrm>
            <a:off x="3520440" y="4434840"/>
            <a:ext cx="2468880" cy="548640"/>
          </a:xfrm>
          <a:prstGeom prst="rect">
            <a:avLst/>
          </a:prstGeom>
          <a:noFill/>
          <a:ln/>
        </p:spPr>
        <p:txBody>
          <a:bodyPr wrap="square" lIns="0" tIns="0" rIns="0" bIns="0" rtlCol="0" anchor="ctr"/>
          <a:lstStyle/>
          <a:p>
            <a:pPr algn="l" indent="0" marL="0">
              <a:buNone/>
            </a:pPr>
            <a:r>
              <a:rPr lang="en-US" sz="2400" b="1" dirty="0">
                <a:solidFill>
                  <a:srgbClr val="C62828"/>
                </a:solidFill>
                <a:latin typeface="Arial" pitchFamily="34" charset="0"/>
                <a:ea typeface="Arial" pitchFamily="34" charset="-122"/>
                <a:cs typeface="Arial" pitchFamily="34" charset="-120"/>
              </a:rPr>
              <a:t>133 s</a:t>
            </a:r>
            <a:endParaRPr lang="en-US" sz="2400" dirty="0"/>
          </a:p>
        </p:txBody>
      </p:sp>
      <p:sp>
        <p:nvSpPr>
          <p:cNvPr id="19" name="Shape 17"/>
          <p:cNvSpPr/>
          <p:nvPr/>
        </p:nvSpPr>
        <p:spPr>
          <a:xfrm>
            <a:off x="6217920" y="1097280"/>
            <a:ext cx="2743200" cy="4297680"/>
          </a:xfrm>
          <a:prstGeom prst="rect">
            <a:avLst/>
          </a:prstGeom>
          <a:solidFill>
            <a:srgbClr val="FFF3E0"/>
          </a:solidFill>
          <a:ln w="38100">
            <a:solidFill>
              <a:srgbClr val="E65100"/>
            </a:solidFill>
            <a:prstDash val="solid"/>
          </a:ln>
          <a:effectLst>
            <a:outerShdw sx="100000" sy="100000" kx="0" ky="0" algn="bl" rotWithShape="0" blurRad="76200" dist="25400" dir="8100000">
              <a:srgbClr val="000000">
                <a:alpha val="10000"/>
              </a:srgbClr>
            </a:outerShdw>
          </a:effectLst>
        </p:spPr>
      </p:sp>
      <p:sp>
        <p:nvSpPr>
          <p:cNvPr id="20" name="Text 18"/>
          <p:cNvSpPr/>
          <p:nvPr/>
        </p:nvSpPr>
        <p:spPr>
          <a:xfrm>
            <a:off x="6309360" y="1188720"/>
            <a:ext cx="457200" cy="365760"/>
          </a:xfrm>
          <a:prstGeom prst="rect">
            <a:avLst/>
          </a:prstGeom>
          <a:noFill/>
          <a:ln/>
        </p:spPr>
        <p:txBody>
          <a:bodyPr wrap="square" lIns="0" tIns="0" rIns="0" bIns="0" rtlCol="0" anchor="ctr"/>
          <a:lstStyle/>
          <a:p>
            <a:pPr algn="l" indent="0" marL="0">
              <a:buNone/>
            </a:pPr>
            <a:r>
              <a:rPr lang="en-US" sz="2400" b="1" dirty="0">
                <a:solidFill>
                  <a:srgbClr val="E65100"/>
                </a:solidFill>
                <a:latin typeface="Arial" pitchFamily="34" charset="0"/>
                <a:ea typeface="Arial" pitchFamily="34" charset="-122"/>
                <a:cs typeface="Arial" pitchFamily="34" charset="-120"/>
              </a:rPr>
              <a:t>★</a:t>
            </a:r>
            <a:endParaRPr lang="en-US" sz="2400" dirty="0"/>
          </a:p>
        </p:txBody>
      </p:sp>
      <p:sp>
        <p:nvSpPr>
          <p:cNvPr id="21" name="Text 19"/>
          <p:cNvSpPr/>
          <p:nvPr/>
        </p:nvSpPr>
        <p:spPr>
          <a:xfrm>
            <a:off x="6400800" y="1554480"/>
            <a:ext cx="2468880" cy="457200"/>
          </a:xfrm>
          <a:prstGeom prst="rect">
            <a:avLst/>
          </a:prstGeom>
          <a:noFill/>
          <a:ln/>
        </p:spPr>
        <p:txBody>
          <a:bodyPr wrap="square" lIns="0" tIns="0" rIns="0" bIns="0" rtlCol="0" anchor="ctr"/>
          <a:lstStyle/>
          <a:p>
            <a:pPr algn="l" indent="0" marL="0">
              <a:buNone/>
            </a:pPr>
            <a:r>
              <a:rPr lang="en-US" sz="1700" b="1" dirty="0">
                <a:solidFill>
                  <a:srgbClr val="E65100"/>
                </a:solidFill>
                <a:latin typeface="Arial" pitchFamily="34" charset="0"/>
                <a:ea typeface="Arial" pitchFamily="34" charset="-122"/>
                <a:cs typeface="Arial" pitchFamily="34" charset="-120"/>
              </a:rPr>
              <a:t>CNN-LSTM</a:t>
            </a:r>
            <a:endParaRPr lang="en-US" sz="1700" dirty="0"/>
          </a:p>
        </p:txBody>
      </p:sp>
      <p:sp>
        <p:nvSpPr>
          <p:cNvPr id="22" name="Text 20"/>
          <p:cNvSpPr/>
          <p:nvPr/>
        </p:nvSpPr>
        <p:spPr>
          <a:xfrm>
            <a:off x="6400800" y="2011680"/>
            <a:ext cx="2468880" cy="320040"/>
          </a:xfrm>
          <a:prstGeom prst="rect">
            <a:avLst/>
          </a:prstGeom>
          <a:noFill/>
          <a:ln/>
        </p:spPr>
        <p:txBody>
          <a:bodyPr wrap="square" rtlCol="0" anchor="ctr"/>
          <a:lstStyle/>
          <a:p>
            <a:pPr algn="l" indent="0" marL="0">
              <a:buNone/>
            </a:pPr>
            <a:r>
              <a:rPr lang="en-US" sz="1100" b="1" i="1" dirty="0">
                <a:solidFill>
                  <a:srgbClr val="E65100"/>
                </a:solidFill>
                <a:latin typeface="Arial" pitchFamily="34" charset="0"/>
                <a:ea typeface="Arial" pitchFamily="34" charset="-122"/>
                <a:cs typeface="Arial" pitchFamily="34" charset="-120"/>
              </a:rPr>
              <a:t>PROPOSED (hybrid)</a:t>
            </a:r>
            <a:endParaRPr lang="en-US" sz="1100" dirty="0"/>
          </a:p>
        </p:txBody>
      </p:sp>
      <p:sp>
        <p:nvSpPr>
          <p:cNvPr id="23" name="Text 21"/>
          <p:cNvSpPr/>
          <p:nvPr/>
        </p:nvSpPr>
        <p:spPr>
          <a:xfrm>
            <a:off x="6400800" y="2468880"/>
            <a:ext cx="2468880" cy="1463040"/>
          </a:xfrm>
          <a:prstGeom prst="rect">
            <a:avLst/>
          </a:prstGeom>
          <a:noFill/>
          <a:ln/>
        </p:spPr>
        <p:txBody>
          <a:bodyPr wrap="square" rtlCol="0" anchor="t"/>
          <a:lstStyle/>
          <a:p>
            <a:pPr algn="l" indent="0" marL="0">
              <a:buNone/>
            </a:pPr>
            <a:r>
              <a:rPr lang="en-US" sz="1200" dirty="0">
                <a:solidFill>
                  <a:srgbClr val="212121"/>
                </a:solidFill>
                <a:latin typeface="Arial" pitchFamily="34" charset="0"/>
                <a:ea typeface="Arial" pitchFamily="34" charset="-122"/>
                <a:cs typeface="Arial" pitchFamily="34" charset="-120"/>
              </a:rPr>
              <a:t>Conv1D ×2 → LSTM → Dense</a:t>
            </a:r>
            <a:endParaRPr lang="en-US" sz="1200" dirty="0"/>
          </a:p>
          <a:p>
            <a:pPr algn="l" indent="0" marL="0">
              <a:buNone/>
            </a:pPr>
            <a:r>
              <a:rPr lang="en-US" sz="1200" dirty="0">
                <a:solidFill>
                  <a:srgbClr val="212121"/>
                </a:solidFill>
                <a:latin typeface="Arial" pitchFamily="34" charset="0"/>
                <a:ea typeface="Arial" pitchFamily="34" charset="-122"/>
                <a:cs typeface="Arial" pitchFamily="34" charset="-120"/>
              </a:rPr>
              <a:t>Alsaiari &amp; Ilyas (2025)</a:t>
            </a:r>
            <a:endParaRPr lang="en-US" sz="1200" dirty="0"/>
          </a:p>
        </p:txBody>
      </p:sp>
      <p:sp>
        <p:nvSpPr>
          <p:cNvPr id="24" name="Shape 22"/>
          <p:cNvSpPr/>
          <p:nvPr/>
        </p:nvSpPr>
        <p:spPr>
          <a:xfrm>
            <a:off x="6400800" y="4069080"/>
            <a:ext cx="2377440" cy="0"/>
          </a:xfrm>
          <a:prstGeom prst="line">
            <a:avLst/>
          </a:prstGeom>
          <a:noFill/>
          <a:ln w="12700">
            <a:solidFill>
              <a:srgbClr val="D0D0D0"/>
            </a:solidFill>
            <a:prstDash val="solid"/>
          </a:ln>
        </p:spPr>
      </p:sp>
      <p:sp>
        <p:nvSpPr>
          <p:cNvPr id="25" name="Text 23"/>
          <p:cNvSpPr/>
          <p:nvPr/>
        </p:nvSpPr>
        <p:spPr>
          <a:xfrm>
            <a:off x="6400800" y="4160520"/>
            <a:ext cx="2468880" cy="274320"/>
          </a:xfrm>
          <a:prstGeom prst="rect">
            <a:avLst/>
          </a:prstGeom>
          <a:noFill/>
          <a:ln/>
        </p:spPr>
        <p:txBody>
          <a:bodyPr wrap="square" lIns="0" tIns="0" rIns="0" bIns="0" rtlCol="0" anchor="ctr"/>
          <a:lstStyle/>
          <a:p>
            <a:pPr algn="l" indent="0" marL="0">
              <a:buNone/>
            </a:pPr>
            <a:r>
              <a:rPr lang="en-US" sz="1000" i="1" dirty="0">
                <a:solidFill>
                  <a:srgbClr val="666666"/>
                </a:solidFill>
                <a:latin typeface="Arial" pitchFamily="34" charset="0"/>
                <a:ea typeface="Arial" pitchFamily="34" charset="-122"/>
                <a:cs typeface="Arial" pitchFamily="34" charset="-120"/>
              </a:rPr>
              <a:t>Train time</a:t>
            </a:r>
            <a:endParaRPr lang="en-US" sz="1000" dirty="0"/>
          </a:p>
        </p:txBody>
      </p:sp>
      <p:sp>
        <p:nvSpPr>
          <p:cNvPr id="26" name="Text 24"/>
          <p:cNvSpPr/>
          <p:nvPr/>
        </p:nvSpPr>
        <p:spPr>
          <a:xfrm>
            <a:off x="6400800" y="4434840"/>
            <a:ext cx="2468880" cy="548640"/>
          </a:xfrm>
          <a:prstGeom prst="rect">
            <a:avLst/>
          </a:prstGeom>
          <a:noFill/>
          <a:ln/>
        </p:spPr>
        <p:txBody>
          <a:bodyPr wrap="square" lIns="0" tIns="0" rIns="0" bIns="0" rtlCol="0" anchor="ctr"/>
          <a:lstStyle/>
          <a:p>
            <a:pPr algn="l" indent="0" marL="0">
              <a:buNone/>
            </a:pPr>
            <a:r>
              <a:rPr lang="en-US" sz="2400" b="1" dirty="0">
                <a:solidFill>
                  <a:srgbClr val="C62828"/>
                </a:solidFill>
                <a:latin typeface="Arial" pitchFamily="34" charset="0"/>
                <a:ea typeface="Arial" pitchFamily="34" charset="-122"/>
                <a:cs typeface="Arial" pitchFamily="34" charset="-120"/>
              </a:rPr>
              <a:t>602 s</a:t>
            </a:r>
            <a:endParaRPr lang="en-US" sz="2400" dirty="0"/>
          </a:p>
        </p:txBody>
      </p:sp>
      <p:sp>
        <p:nvSpPr>
          <p:cNvPr id="27" name="Shape 25"/>
          <p:cNvSpPr/>
          <p:nvPr/>
        </p:nvSpPr>
        <p:spPr>
          <a:xfrm>
            <a:off x="9098280" y="1097280"/>
            <a:ext cx="2743200" cy="4297680"/>
          </a:xfrm>
          <a:prstGeom prst="rect">
            <a:avLst/>
          </a:prstGeom>
          <a:solidFill>
            <a:srgbClr val="FFFFFF"/>
          </a:solidFill>
          <a:ln w="12700">
            <a:solidFill>
              <a:srgbClr val="1F3864"/>
            </a:solidFill>
            <a:prstDash val="solid"/>
          </a:ln>
          <a:effectLst>
            <a:outerShdw sx="100000" sy="100000" kx="0" ky="0" algn="bl" rotWithShape="0" blurRad="76200" dist="25400" dir="8100000">
              <a:srgbClr val="000000">
                <a:alpha val="10000"/>
              </a:srgbClr>
            </a:outerShdw>
          </a:effectLst>
        </p:spPr>
      </p:sp>
      <p:sp>
        <p:nvSpPr>
          <p:cNvPr id="28" name="Text 26"/>
          <p:cNvSpPr/>
          <p:nvPr/>
        </p:nvSpPr>
        <p:spPr>
          <a:xfrm>
            <a:off x="9281160" y="1554480"/>
            <a:ext cx="2468880" cy="457200"/>
          </a:xfrm>
          <a:prstGeom prst="rect">
            <a:avLst/>
          </a:prstGeom>
          <a:noFill/>
          <a:ln/>
        </p:spPr>
        <p:txBody>
          <a:bodyPr wrap="square" lIns="0" tIns="0" rIns="0" bIns="0" rtlCol="0" anchor="ctr"/>
          <a:lstStyle/>
          <a:p>
            <a:pPr algn="l" indent="0" marL="0">
              <a:buNone/>
            </a:pPr>
            <a:r>
              <a:rPr lang="en-US" sz="1700" b="1" dirty="0">
                <a:solidFill>
                  <a:srgbClr val="1F3864"/>
                </a:solidFill>
                <a:latin typeface="Arial" pitchFamily="34" charset="0"/>
                <a:ea typeface="Arial" pitchFamily="34" charset="-122"/>
                <a:cs typeface="Arial" pitchFamily="34" charset="-120"/>
              </a:rPr>
              <a:t>XGBoost + SMOTE</a:t>
            </a:r>
            <a:endParaRPr lang="en-US" sz="1700" dirty="0"/>
          </a:p>
        </p:txBody>
      </p:sp>
      <p:sp>
        <p:nvSpPr>
          <p:cNvPr id="29" name="Text 27"/>
          <p:cNvSpPr/>
          <p:nvPr/>
        </p:nvSpPr>
        <p:spPr>
          <a:xfrm>
            <a:off x="9281160" y="2011680"/>
            <a:ext cx="2468880" cy="320040"/>
          </a:xfrm>
          <a:prstGeom prst="rect">
            <a:avLst/>
          </a:prstGeom>
          <a:noFill/>
          <a:ln/>
        </p:spPr>
        <p:txBody>
          <a:bodyPr wrap="square"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Imbalance-aware</a:t>
            </a:r>
            <a:endParaRPr lang="en-US" sz="1100" dirty="0"/>
          </a:p>
        </p:txBody>
      </p:sp>
      <p:sp>
        <p:nvSpPr>
          <p:cNvPr id="30" name="Text 28"/>
          <p:cNvSpPr/>
          <p:nvPr/>
        </p:nvSpPr>
        <p:spPr>
          <a:xfrm>
            <a:off x="9281160" y="2468880"/>
            <a:ext cx="2468880" cy="1463040"/>
          </a:xfrm>
          <a:prstGeom prst="rect">
            <a:avLst/>
          </a:prstGeom>
          <a:noFill/>
          <a:ln/>
        </p:spPr>
        <p:txBody>
          <a:bodyPr wrap="square" rtlCol="0" anchor="t"/>
          <a:lstStyle/>
          <a:p>
            <a:pPr algn="l" indent="0" marL="0">
              <a:buNone/>
            </a:pPr>
            <a:r>
              <a:rPr lang="en-US" sz="1200" dirty="0">
                <a:solidFill>
                  <a:srgbClr val="212121"/>
                </a:solidFill>
                <a:latin typeface="Arial" pitchFamily="34" charset="0"/>
                <a:ea typeface="Arial" pitchFamily="34" charset="-122"/>
                <a:cs typeface="Arial" pitchFamily="34" charset="-120"/>
              </a:rPr>
              <a:t>200 trees · SMOTE on training fold</a:t>
            </a:r>
            <a:endParaRPr lang="en-US" sz="1200" dirty="0"/>
          </a:p>
          <a:p>
            <a:pPr algn="l" indent="0" marL="0">
              <a:buNone/>
            </a:pPr>
            <a:r>
              <a:rPr lang="en-US" sz="1200" dirty="0">
                <a:solidFill>
                  <a:srgbClr val="212121"/>
                </a:solidFill>
                <a:latin typeface="Arial" pitchFamily="34" charset="0"/>
                <a:ea typeface="Arial" pitchFamily="34" charset="-122"/>
                <a:cs typeface="Arial" pitchFamily="34" charset="-120"/>
              </a:rPr>
              <a:t>Li et al. (2023)</a:t>
            </a:r>
            <a:endParaRPr lang="en-US" sz="1200" dirty="0"/>
          </a:p>
        </p:txBody>
      </p:sp>
      <p:sp>
        <p:nvSpPr>
          <p:cNvPr id="31" name="Shape 29"/>
          <p:cNvSpPr/>
          <p:nvPr/>
        </p:nvSpPr>
        <p:spPr>
          <a:xfrm>
            <a:off x="9281160" y="4069080"/>
            <a:ext cx="2377440" cy="0"/>
          </a:xfrm>
          <a:prstGeom prst="line">
            <a:avLst/>
          </a:prstGeom>
          <a:noFill/>
          <a:ln w="12700">
            <a:solidFill>
              <a:srgbClr val="D0D0D0"/>
            </a:solidFill>
            <a:prstDash val="solid"/>
          </a:ln>
        </p:spPr>
      </p:sp>
      <p:sp>
        <p:nvSpPr>
          <p:cNvPr id="32" name="Text 30"/>
          <p:cNvSpPr/>
          <p:nvPr/>
        </p:nvSpPr>
        <p:spPr>
          <a:xfrm>
            <a:off x="9281160" y="4160520"/>
            <a:ext cx="2468880" cy="274320"/>
          </a:xfrm>
          <a:prstGeom prst="rect">
            <a:avLst/>
          </a:prstGeom>
          <a:noFill/>
          <a:ln/>
        </p:spPr>
        <p:txBody>
          <a:bodyPr wrap="square" lIns="0" tIns="0" rIns="0" bIns="0" rtlCol="0" anchor="ctr"/>
          <a:lstStyle/>
          <a:p>
            <a:pPr algn="l" indent="0" marL="0">
              <a:buNone/>
            </a:pPr>
            <a:r>
              <a:rPr lang="en-US" sz="1000" i="1" dirty="0">
                <a:solidFill>
                  <a:srgbClr val="666666"/>
                </a:solidFill>
                <a:latin typeface="Arial" pitchFamily="34" charset="0"/>
                <a:ea typeface="Arial" pitchFamily="34" charset="-122"/>
                <a:cs typeface="Arial" pitchFamily="34" charset="-120"/>
              </a:rPr>
              <a:t>Train time</a:t>
            </a:r>
            <a:endParaRPr lang="en-US" sz="1000" dirty="0"/>
          </a:p>
        </p:txBody>
      </p:sp>
      <p:sp>
        <p:nvSpPr>
          <p:cNvPr id="33" name="Text 31"/>
          <p:cNvSpPr/>
          <p:nvPr/>
        </p:nvSpPr>
        <p:spPr>
          <a:xfrm>
            <a:off x="9281160" y="4434840"/>
            <a:ext cx="2468880" cy="548640"/>
          </a:xfrm>
          <a:prstGeom prst="rect">
            <a:avLst/>
          </a:prstGeom>
          <a:noFill/>
          <a:ln/>
        </p:spPr>
        <p:txBody>
          <a:bodyPr wrap="square" lIns="0" tIns="0" rIns="0" bIns="0" rtlCol="0" anchor="ctr"/>
          <a:lstStyle/>
          <a:p>
            <a:pPr algn="l" indent="0" marL="0">
              <a:buNone/>
            </a:pPr>
            <a:r>
              <a:rPr lang="en-US" sz="2400" b="1" dirty="0">
                <a:solidFill>
                  <a:srgbClr val="2E7D32"/>
                </a:solidFill>
                <a:latin typeface="Arial" pitchFamily="34" charset="0"/>
                <a:ea typeface="Arial" pitchFamily="34" charset="-122"/>
                <a:cs typeface="Arial" pitchFamily="34" charset="-120"/>
              </a:rPr>
              <a:t>5 s</a:t>
            </a:r>
            <a:endParaRPr lang="en-US" sz="2400" dirty="0"/>
          </a:p>
        </p:txBody>
      </p:sp>
      <p:sp>
        <p:nvSpPr>
          <p:cNvPr id="34" name="Text 32"/>
          <p:cNvSpPr/>
          <p:nvPr/>
        </p:nvSpPr>
        <p:spPr>
          <a:xfrm>
            <a:off x="457200" y="5760720"/>
            <a:ext cx="11247120" cy="365760"/>
          </a:xfrm>
          <a:prstGeom prst="rect">
            <a:avLst/>
          </a:prstGeom>
          <a:noFill/>
          <a:ln/>
        </p:spPr>
        <p:txBody>
          <a:bodyPr wrap="square" rtlCol="0" anchor="ctr"/>
          <a:lstStyle/>
          <a:p>
            <a:pPr algn="ctr" indent="0" marL="0">
              <a:buNone/>
            </a:pPr>
            <a:r>
              <a:rPr lang="en-US" sz="1300" i="1" dirty="0">
                <a:solidFill>
                  <a:srgbClr val="666666"/>
                </a:solidFill>
                <a:latin typeface="Arial" pitchFamily="34" charset="0"/>
                <a:ea typeface="Arial" pitchFamily="34" charset="-122"/>
                <a:cs typeface="Arial" pitchFamily="34" charset="-120"/>
              </a:rPr>
              <a:t>Rationale: span the methodological spectrum — classical ensemble · single-architecture deep · hybrid deep · imbalance-aware boosting.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Results — comparative metrics</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8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3017520"/>
                <a:gridCol w="1005840"/>
                <a:gridCol w="1005840"/>
                <a:gridCol w="1097280"/>
                <a:gridCol w="1005840"/>
                <a:gridCol w="1097280"/>
                <a:gridCol w="1097280"/>
                <a:gridCol w="1920240"/>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Model</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Acc</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Prec</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Recall</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F1</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FPR</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AUC</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Time</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F3864"/>
                    </a:solidFill>
                  </a:tcPr>
                </a:tc>
              </a:tr>
              <a:tr h="411480">
                <a:tc>
                  <a:txBody>
                    <a:bodyPr/>
                    <a:lstStyle/>
                    <a:p>
                      <a:pPr algn="l" indent="0" marL="0">
                        <a:buNone/>
                      </a:pPr>
                      <a:r>
                        <a:rPr lang="en-US" sz="1200" b="1" dirty="0">
                          <a:solidFill>
                            <a:srgbClr val="1F3864"/>
                          </a:solidFill>
                          <a:latin typeface="Arial" pitchFamily="34" charset="0"/>
                          <a:ea typeface="Arial" pitchFamily="34" charset="-122"/>
                          <a:cs typeface="Arial" pitchFamily="34" charset="-120"/>
                        </a:rPr>
                        <a:t>Random Forest</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0.9975</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0.9964</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0.9889</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212121"/>
                          </a:solidFill>
                          <a:latin typeface="Arial" pitchFamily="34" charset="0"/>
                          <a:ea typeface="Arial" pitchFamily="34" charset="-122"/>
                          <a:cs typeface="Arial" pitchFamily="34" charset="-120"/>
                        </a:rPr>
                        <a:t>0.9926</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00" b="1" dirty="0">
                          <a:solidFill>
                            <a:srgbClr val="212121"/>
                          </a:solidFill>
                          <a:latin typeface="Arial" pitchFamily="34" charset="0"/>
                          <a:ea typeface="Arial" pitchFamily="34" charset="-122"/>
                          <a:cs typeface="Arial" pitchFamily="34" charset="-120"/>
                        </a:rPr>
                        <a:t>0.0007</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00" b="1" dirty="0">
                          <a:solidFill>
                            <a:srgbClr val="212121"/>
                          </a:solidFill>
                          <a:latin typeface="Arial" pitchFamily="34" charset="0"/>
                          <a:ea typeface="Arial" pitchFamily="34" charset="-122"/>
                          <a:cs typeface="Arial" pitchFamily="34" charset="-120"/>
                        </a:rPr>
                        <a:t>0.9999</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42 s</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411480">
                <a:tc>
                  <a:txBody>
                    <a:bodyPr/>
                    <a:lstStyle/>
                    <a:p>
                      <a:pPr algn="l" indent="0" marL="0">
                        <a:buNone/>
                      </a:pPr>
                      <a:r>
                        <a:rPr lang="en-US" sz="1200" dirty="0">
                          <a:solidFill>
                            <a:srgbClr val="212121"/>
                          </a:solidFill>
                          <a:latin typeface="Arial" pitchFamily="34" charset="0"/>
                          <a:ea typeface="Arial" pitchFamily="34" charset="-122"/>
                          <a:cs typeface="Arial" pitchFamily="34" charset="-120"/>
                        </a:rPr>
                        <a:t>LSTM (base-paper style)</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0.9732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0.9054</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0.9392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0.9220</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0.0199</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0.9952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133 s</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411480">
                <a:tc>
                  <a:txBody>
                    <a:bodyPr/>
                    <a:lstStyle/>
                    <a:p>
                      <a:pPr algn="l" indent="0" marL="0">
                        <a:buNone/>
                      </a:pPr>
                      <a:r>
                        <a:rPr lang="en-US" sz="1200" b="1" dirty="0">
                          <a:solidFill>
                            <a:srgbClr val="E65100"/>
                          </a:solidFill>
                          <a:latin typeface="Arial" pitchFamily="34" charset="0"/>
                          <a:ea typeface="Arial" pitchFamily="34" charset="-122"/>
                          <a:cs typeface="Arial" pitchFamily="34" charset="-120"/>
                        </a:rPr>
                        <a:t>CNN-LSTM (proposed)</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0.9823</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0.9716</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0.9218</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0.9461</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0.0055</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0.9984</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602 s</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3E0"/>
                    </a:solidFill>
                  </a:tcPr>
                </a:tc>
              </a:tr>
              <a:tr h="411480">
                <a:tc>
                  <a:txBody>
                    <a:bodyPr/>
                    <a:lstStyle/>
                    <a:p>
                      <a:pPr algn="l" indent="0" marL="0">
                        <a:buNone/>
                      </a:pPr>
                      <a:r>
                        <a:rPr lang="en-US" sz="1200" dirty="0">
                          <a:solidFill>
                            <a:srgbClr val="212121"/>
                          </a:solidFill>
                          <a:latin typeface="Arial" pitchFamily="34" charset="0"/>
                          <a:ea typeface="Arial" pitchFamily="34" charset="-122"/>
                          <a:cs typeface="Arial" pitchFamily="34" charset="-120"/>
                        </a:rPr>
                        <a:t>XGBoost + SMOTE</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0.9962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0.9842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212121"/>
                          </a:solidFill>
                          <a:latin typeface="Arial" pitchFamily="34" charset="0"/>
                          <a:ea typeface="Arial" pitchFamily="34" charset="-122"/>
                          <a:cs typeface="Arial" pitchFamily="34" charset="-120"/>
                        </a:rPr>
                        <a:t>0.9932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0.9887</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0.0032</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dirty="0">
                          <a:solidFill>
                            <a:srgbClr val="212121"/>
                          </a:solidFill>
                          <a:latin typeface="Arial" pitchFamily="34" charset="0"/>
                          <a:ea typeface="Arial" pitchFamily="34" charset="-122"/>
                          <a:cs typeface="Arial" pitchFamily="34" charset="-120"/>
                        </a:rPr>
                        <a:t>0.9998</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212121"/>
                          </a:solidFill>
                          <a:latin typeface="Arial" pitchFamily="34" charset="0"/>
                          <a:ea typeface="Arial" pitchFamily="34" charset="-122"/>
                          <a:cs typeface="Arial" pitchFamily="34" charset="-120"/>
                        </a:rPr>
                        <a:t>5 s</a:t>
                      </a:r>
                      <a:endParaRPr lang="en-US" sz="1200" dirty="0">
                        <a:latin typeface="Arial" charset="0"/>
                        <a:ea typeface="Arial" charset="0"/>
                        <a:cs typeface="Arial" charset="0"/>
                      </a:endParaRPr>
                    </a:p>
                  </a:txBody>
                  <a:tcPr marL="91440" marR="91440" marT="45720" marB="45720" anchor="ct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bl>
          </a:graphicData>
        </a:graphic>
      </p:graphicFrame>
      <p:sp>
        <p:nvSpPr>
          <p:cNvPr id="6" name="Shape 3"/>
          <p:cNvSpPr/>
          <p:nvPr/>
        </p:nvSpPr>
        <p:spPr>
          <a:xfrm>
            <a:off x="457200" y="4023360"/>
            <a:ext cx="3657600" cy="1737360"/>
          </a:xfrm>
          <a:prstGeom prst="rect">
            <a:avLst/>
          </a:prstGeom>
          <a:solidFill>
            <a:srgbClr val="E8F0FE"/>
          </a:solidFill>
          <a:ln w="12700">
            <a:solidFill>
              <a:srgbClr val="1F3864"/>
            </a:solidFill>
            <a:prstDash val="solid"/>
          </a:ln>
        </p:spPr>
      </p:sp>
      <p:sp>
        <p:nvSpPr>
          <p:cNvPr id="7" name="Text 4"/>
          <p:cNvSpPr/>
          <p:nvPr/>
        </p:nvSpPr>
        <p:spPr>
          <a:xfrm>
            <a:off x="640080" y="4114800"/>
            <a:ext cx="3291840" cy="365760"/>
          </a:xfrm>
          <a:prstGeom prst="rect">
            <a:avLst/>
          </a:prstGeom>
          <a:noFill/>
          <a:ln/>
        </p:spPr>
        <p:txBody>
          <a:bodyPr wrap="square" lIns="0" tIns="0" rIns="0" bIns="0"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Best F1 + FPR</a:t>
            </a:r>
            <a:endParaRPr lang="en-US" sz="1100" dirty="0"/>
          </a:p>
        </p:txBody>
      </p:sp>
      <p:sp>
        <p:nvSpPr>
          <p:cNvPr id="8" name="Text 5"/>
          <p:cNvSpPr/>
          <p:nvPr/>
        </p:nvSpPr>
        <p:spPr>
          <a:xfrm>
            <a:off x="640080" y="4480560"/>
            <a:ext cx="3291840" cy="640080"/>
          </a:xfrm>
          <a:prstGeom prst="rect">
            <a:avLst/>
          </a:prstGeom>
          <a:noFill/>
          <a:ln/>
        </p:spPr>
        <p:txBody>
          <a:bodyPr wrap="square" lIns="0" tIns="0" rIns="0" bIns="0" rtlCol="0" anchor="ctr"/>
          <a:lstStyle/>
          <a:p>
            <a:pPr algn="l" indent="0" marL="0">
              <a:buNone/>
            </a:pPr>
            <a:r>
              <a:rPr lang="en-US" sz="2000" b="1" dirty="0">
                <a:solidFill>
                  <a:srgbClr val="1F3864"/>
                </a:solidFill>
                <a:latin typeface="Arial" pitchFamily="34" charset="0"/>
                <a:ea typeface="Arial" pitchFamily="34" charset="-122"/>
                <a:cs typeface="Arial" pitchFamily="34" charset="-120"/>
              </a:rPr>
              <a:t>Random Forest</a:t>
            </a:r>
            <a:endParaRPr lang="en-US" sz="2000" dirty="0"/>
          </a:p>
        </p:txBody>
      </p:sp>
      <p:sp>
        <p:nvSpPr>
          <p:cNvPr id="9" name="Text 6"/>
          <p:cNvSpPr/>
          <p:nvPr/>
        </p:nvSpPr>
        <p:spPr>
          <a:xfrm>
            <a:off x="640080" y="5166360"/>
            <a:ext cx="3291840" cy="457200"/>
          </a:xfrm>
          <a:prstGeom prst="rect">
            <a:avLst/>
          </a:prstGeom>
          <a:noFill/>
          <a:ln/>
        </p:spPr>
        <p:txBody>
          <a:bodyPr wrap="square" lIns="0" tIns="0" rIns="0" bIns="0" rtlCol="0" anchor="ctr"/>
          <a:lstStyle/>
          <a:p>
            <a:pPr algn="l" indent="0" marL="0">
              <a:buNone/>
            </a:pPr>
            <a:r>
              <a:rPr lang="en-US" sz="1200" dirty="0">
                <a:solidFill>
                  <a:srgbClr val="212121"/>
                </a:solidFill>
                <a:latin typeface="Arial" pitchFamily="34" charset="0"/>
                <a:ea typeface="Arial" pitchFamily="34" charset="-122"/>
                <a:cs typeface="Arial" pitchFamily="34" charset="-120"/>
              </a:rPr>
              <a:t>F1=0.9926 · FPR=0.07%</a:t>
            </a:r>
            <a:endParaRPr lang="en-US" sz="1200" dirty="0"/>
          </a:p>
        </p:txBody>
      </p:sp>
      <p:sp>
        <p:nvSpPr>
          <p:cNvPr id="10" name="Shape 7"/>
          <p:cNvSpPr/>
          <p:nvPr/>
        </p:nvSpPr>
        <p:spPr>
          <a:xfrm>
            <a:off x="4361688" y="4023360"/>
            <a:ext cx="3657600" cy="1737360"/>
          </a:xfrm>
          <a:prstGeom prst="rect">
            <a:avLst/>
          </a:prstGeom>
          <a:solidFill>
            <a:srgbClr val="E8F0FE"/>
          </a:solidFill>
          <a:ln w="12700">
            <a:solidFill>
              <a:srgbClr val="1F3864"/>
            </a:solidFill>
            <a:prstDash val="solid"/>
          </a:ln>
        </p:spPr>
      </p:sp>
      <p:sp>
        <p:nvSpPr>
          <p:cNvPr id="11" name="Text 8"/>
          <p:cNvSpPr/>
          <p:nvPr/>
        </p:nvSpPr>
        <p:spPr>
          <a:xfrm>
            <a:off x="4544568" y="4114800"/>
            <a:ext cx="3291840" cy="365760"/>
          </a:xfrm>
          <a:prstGeom prst="rect">
            <a:avLst/>
          </a:prstGeom>
          <a:noFill/>
          <a:ln/>
        </p:spPr>
        <p:txBody>
          <a:bodyPr wrap="square" lIns="0" tIns="0" rIns="0" bIns="0"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Best Recall + Speed</a:t>
            </a:r>
            <a:endParaRPr lang="en-US" sz="1100" dirty="0"/>
          </a:p>
        </p:txBody>
      </p:sp>
      <p:sp>
        <p:nvSpPr>
          <p:cNvPr id="12" name="Text 9"/>
          <p:cNvSpPr/>
          <p:nvPr/>
        </p:nvSpPr>
        <p:spPr>
          <a:xfrm>
            <a:off x="4544568" y="4480560"/>
            <a:ext cx="3291840" cy="640080"/>
          </a:xfrm>
          <a:prstGeom prst="rect">
            <a:avLst/>
          </a:prstGeom>
          <a:noFill/>
          <a:ln/>
        </p:spPr>
        <p:txBody>
          <a:bodyPr wrap="square" lIns="0" tIns="0" rIns="0" bIns="0" rtlCol="0" anchor="ctr"/>
          <a:lstStyle/>
          <a:p>
            <a:pPr algn="l" indent="0" marL="0">
              <a:buNone/>
            </a:pPr>
            <a:r>
              <a:rPr lang="en-US" sz="2000" b="1" dirty="0">
                <a:solidFill>
                  <a:srgbClr val="1F3864"/>
                </a:solidFill>
                <a:latin typeface="Arial" pitchFamily="34" charset="0"/>
                <a:ea typeface="Arial" pitchFamily="34" charset="-122"/>
                <a:cs typeface="Arial" pitchFamily="34" charset="-120"/>
              </a:rPr>
              <a:t>XGBoost+SMOTE</a:t>
            </a:r>
            <a:endParaRPr lang="en-US" sz="2000" dirty="0"/>
          </a:p>
        </p:txBody>
      </p:sp>
      <p:sp>
        <p:nvSpPr>
          <p:cNvPr id="13" name="Text 10"/>
          <p:cNvSpPr/>
          <p:nvPr/>
        </p:nvSpPr>
        <p:spPr>
          <a:xfrm>
            <a:off x="4544568" y="5166360"/>
            <a:ext cx="3291840" cy="457200"/>
          </a:xfrm>
          <a:prstGeom prst="rect">
            <a:avLst/>
          </a:prstGeom>
          <a:noFill/>
          <a:ln/>
        </p:spPr>
        <p:txBody>
          <a:bodyPr wrap="square" lIns="0" tIns="0" rIns="0" bIns="0" rtlCol="0" anchor="ctr"/>
          <a:lstStyle/>
          <a:p>
            <a:pPr algn="l" indent="0" marL="0">
              <a:buNone/>
            </a:pPr>
            <a:r>
              <a:rPr lang="en-US" sz="1200" dirty="0">
                <a:solidFill>
                  <a:srgbClr val="212121"/>
                </a:solidFill>
                <a:latin typeface="Arial" pitchFamily="34" charset="0"/>
                <a:ea typeface="Arial" pitchFamily="34" charset="-122"/>
                <a:cs typeface="Arial" pitchFamily="34" charset="-120"/>
              </a:rPr>
              <a:t>Recall=0.9932 · 5 s train</a:t>
            </a:r>
            <a:endParaRPr lang="en-US" sz="1200" dirty="0"/>
          </a:p>
        </p:txBody>
      </p:sp>
      <p:sp>
        <p:nvSpPr>
          <p:cNvPr id="14" name="Shape 11"/>
          <p:cNvSpPr/>
          <p:nvPr/>
        </p:nvSpPr>
        <p:spPr>
          <a:xfrm>
            <a:off x="8266176" y="4023360"/>
            <a:ext cx="3657600" cy="1737360"/>
          </a:xfrm>
          <a:prstGeom prst="rect">
            <a:avLst/>
          </a:prstGeom>
          <a:solidFill>
            <a:srgbClr val="E8F0FE"/>
          </a:solidFill>
          <a:ln w="12700">
            <a:solidFill>
              <a:srgbClr val="1F3864"/>
            </a:solidFill>
            <a:prstDash val="solid"/>
          </a:ln>
        </p:spPr>
      </p:sp>
      <p:sp>
        <p:nvSpPr>
          <p:cNvPr id="15" name="Text 12"/>
          <p:cNvSpPr/>
          <p:nvPr/>
        </p:nvSpPr>
        <p:spPr>
          <a:xfrm>
            <a:off x="8449056" y="4114800"/>
            <a:ext cx="3291840" cy="365760"/>
          </a:xfrm>
          <a:prstGeom prst="rect">
            <a:avLst/>
          </a:prstGeom>
          <a:noFill/>
          <a:ln/>
        </p:spPr>
        <p:txBody>
          <a:bodyPr wrap="square" lIns="0" tIns="0" rIns="0" bIns="0"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CNN-LSTM beats LSTM</a:t>
            </a:r>
            <a:endParaRPr lang="en-US" sz="1100" dirty="0"/>
          </a:p>
        </p:txBody>
      </p:sp>
      <p:sp>
        <p:nvSpPr>
          <p:cNvPr id="16" name="Text 13"/>
          <p:cNvSpPr/>
          <p:nvPr/>
        </p:nvSpPr>
        <p:spPr>
          <a:xfrm>
            <a:off x="8449056" y="4480560"/>
            <a:ext cx="3291840" cy="640080"/>
          </a:xfrm>
          <a:prstGeom prst="rect">
            <a:avLst/>
          </a:prstGeom>
          <a:noFill/>
          <a:ln/>
        </p:spPr>
        <p:txBody>
          <a:bodyPr wrap="square" lIns="0" tIns="0" rIns="0" bIns="0" rtlCol="0" anchor="ctr"/>
          <a:lstStyle/>
          <a:p>
            <a:pPr algn="l" indent="0" marL="0">
              <a:buNone/>
            </a:pPr>
            <a:r>
              <a:rPr lang="en-US" sz="2000" b="1" dirty="0">
                <a:solidFill>
                  <a:srgbClr val="1F3864"/>
                </a:solidFill>
                <a:latin typeface="Arial" pitchFamily="34" charset="0"/>
                <a:ea typeface="Arial" pitchFamily="34" charset="-122"/>
                <a:cs typeface="Arial" pitchFamily="34" charset="-120"/>
              </a:rPr>
              <a:t>+2.4 F1 pp · −3.6× FPR</a:t>
            </a:r>
            <a:endParaRPr lang="en-US" sz="2000" dirty="0"/>
          </a:p>
        </p:txBody>
      </p:sp>
      <p:sp>
        <p:nvSpPr>
          <p:cNvPr id="17" name="Text 14"/>
          <p:cNvSpPr/>
          <p:nvPr/>
        </p:nvSpPr>
        <p:spPr>
          <a:xfrm>
            <a:off x="8449056" y="5166360"/>
            <a:ext cx="3291840" cy="457200"/>
          </a:xfrm>
          <a:prstGeom prst="rect">
            <a:avLst/>
          </a:prstGeom>
          <a:noFill/>
          <a:ln/>
        </p:spPr>
        <p:txBody>
          <a:bodyPr wrap="square" lIns="0" tIns="0" rIns="0" bIns="0" rtlCol="0" anchor="ctr"/>
          <a:lstStyle/>
          <a:p>
            <a:pPr algn="l" indent="0" marL="0">
              <a:buNone/>
            </a:pPr>
            <a:r>
              <a:rPr lang="en-US" sz="1200" dirty="0">
                <a:solidFill>
                  <a:srgbClr val="212121"/>
                </a:solidFill>
                <a:latin typeface="Arial" pitchFamily="34" charset="0"/>
                <a:ea typeface="Arial" pitchFamily="34" charset="-122"/>
                <a:cs typeface="Arial" pitchFamily="34" charset="-120"/>
              </a:rPr>
              <a:t>Hybrid edge confirmed</a:t>
            </a:r>
            <a:endParaRPr lang="en-US" sz="1200" dirty="0"/>
          </a:p>
        </p:txBody>
      </p:sp>
      <p:sp>
        <p:nvSpPr>
          <p:cNvPr id="18" name="Text 15"/>
          <p:cNvSpPr/>
          <p:nvPr/>
        </p:nvSpPr>
        <p:spPr>
          <a:xfrm>
            <a:off x="457200" y="5943600"/>
            <a:ext cx="11247120" cy="365760"/>
          </a:xfrm>
          <a:prstGeom prst="rect">
            <a:avLst/>
          </a:prstGeom>
          <a:noFill/>
          <a:ln/>
        </p:spPr>
        <p:txBody>
          <a:bodyPr wrap="square" rtlCol="0" anchor="ctr"/>
          <a:lstStyle/>
          <a:p>
            <a:pPr algn="ctr" indent="0" marL="0">
              <a:buNone/>
            </a:pPr>
            <a:r>
              <a:rPr lang="en-US" sz="1300" b="1" i="1" dirty="0">
                <a:solidFill>
                  <a:srgbClr val="E65100"/>
                </a:solidFill>
                <a:latin typeface="Arial" pitchFamily="34" charset="0"/>
                <a:ea typeface="Arial" pitchFamily="34" charset="-122"/>
                <a:cs typeface="Arial" pitchFamily="34" charset="-120"/>
              </a:rPr>
              <a:t>Honest finding: classical and imbalance-aware methods edge out my proposed hybrid on this binary task.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Visual evaluation — ROC and confusion matrices</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9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pic>
        <p:nvPicPr>
          <p:cNvPr id="5" name="Image 0" descr="/home/claude/project/figures/roc_curves.png">    </p:cNvPr>
          <p:cNvPicPr>
            <a:picLocks noChangeAspect="1"/>
          </p:cNvPicPr>
          <p:nvPr/>
        </p:nvPicPr>
        <p:blipFill>
          <a:blip r:embed="rId1"/>
          <a:srcRect l="0" r="0" t="0" b="0"/>
          <a:stretch/>
        </p:blipFill>
        <p:spPr>
          <a:xfrm>
            <a:off x="365760" y="1097280"/>
            <a:ext cx="5486400" cy="4114800"/>
          </a:xfrm>
          <a:prstGeom prst="rect">
            <a:avLst/>
          </a:prstGeom>
        </p:spPr>
      </p:pic>
      <p:sp>
        <p:nvSpPr>
          <p:cNvPr id="6" name="Text 3"/>
          <p:cNvSpPr/>
          <p:nvPr/>
        </p:nvSpPr>
        <p:spPr>
          <a:xfrm>
            <a:off x="365760" y="5257800"/>
            <a:ext cx="5486400" cy="54864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Figure 4: ROC curves. RF and XGBoost+SMOTE dominate the upper-left corner; CNN-LSTM clearly above plain LSTM.</a:t>
            </a:r>
            <a:endParaRPr lang="en-US" sz="1100" dirty="0"/>
          </a:p>
        </p:txBody>
      </p:sp>
      <p:pic>
        <p:nvPicPr>
          <p:cNvPr id="7" name="Image 1" descr="/home/claude/project/figures/confusion_matrices.png">    </p:cNvPr>
          <p:cNvPicPr>
            <a:picLocks noChangeAspect="1"/>
          </p:cNvPicPr>
          <p:nvPr/>
        </p:nvPicPr>
        <p:blipFill>
          <a:blip r:embed="rId2"/>
          <a:srcRect l="0" r="0" t="0" b="0"/>
          <a:stretch/>
        </p:blipFill>
        <p:spPr>
          <a:xfrm>
            <a:off x="6035040" y="1828800"/>
            <a:ext cx="5852160" cy="1280160"/>
          </a:xfrm>
          <a:prstGeom prst="rect">
            <a:avLst/>
          </a:prstGeom>
        </p:spPr>
      </p:pic>
      <p:sp>
        <p:nvSpPr>
          <p:cNvPr id="8" name="Text 4"/>
          <p:cNvSpPr/>
          <p:nvPr/>
        </p:nvSpPr>
        <p:spPr>
          <a:xfrm>
            <a:off x="6035040" y="3154680"/>
            <a:ext cx="5852160" cy="36576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Figure 3: Confusion matrices for all four models on the test set.</a:t>
            </a:r>
            <a:endParaRPr lang="en-US" sz="1100" dirty="0"/>
          </a:p>
        </p:txBody>
      </p:sp>
      <p:sp>
        <p:nvSpPr>
          <p:cNvPr id="9" name="Shape 5"/>
          <p:cNvSpPr/>
          <p:nvPr/>
        </p:nvSpPr>
        <p:spPr>
          <a:xfrm>
            <a:off x="6035040" y="3749040"/>
            <a:ext cx="5852160" cy="2011680"/>
          </a:xfrm>
          <a:prstGeom prst="rect">
            <a:avLst/>
          </a:prstGeom>
          <a:solidFill>
            <a:srgbClr val="E8F0FE"/>
          </a:solidFill>
          <a:ln w="12700">
            <a:solidFill>
              <a:srgbClr val="1F3864"/>
            </a:solidFill>
            <a:prstDash val="solid"/>
          </a:ln>
        </p:spPr>
      </p:sp>
      <p:sp>
        <p:nvSpPr>
          <p:cNvPr id="10" name="Text 6"/>
          <p:cNvSpPr/>
          <p:nvPr/>
        </p:nvSpPr>
        <p:spPr>
          <a:xfrm>
            <a:off x="6217920" y="3840480"/>
            <a:ext cx="5486400" cy="365760"/>
          </a:xfrm>
          <a:prstGeom prst="rect">
            <a:avLst/>
          </a:prstGeom>
          <a:noFill/>
          <a:ln/>
        </p:spPr>
        <p:txBody>
          <a:bodyPr wrap="square" lIns="0" tIns="0" rIns="0" bIns="0" rtlCol="0" anchor="ctr"/>
          <a:lstStyle/>
          <a:p>
            <a:pPr algn="l" indent="0" marL="0">
              <a:buNone/>
            </a:pPr>
            <a:r>
              <a:rPr lang="en-US" sz="1400" b="1" dirty="0">
                <a:solidFill>
                  <a:srgbClr val="1F3864"/>
                </a:solidFill>
                <a:latin typeface="Arial" pitchFamily="34" charset="0"/>
                <a:ea typeface="Arial" pitchFamily="34" charset="-122"/>
                <a:cs typeface="Arial" pitchFamily="34" charset="-120"/>
              </a:rPr>
              <a:t>Confusion matrix takeaways</a:t>
            </a:r>
            <a:endParaRPr lang="en-US" sz="1400" dirty="0"/>
          </a:p>
        </p:txBody>
      </p:sp>
      <p:sp>
        <p:nvSpPr>
          <p:cNvPr id="11" name="Text 7"/>
          <p:cNvSpPr/>
          <p:nvPr/>
        </p:nvSpPr>
        <p:spPr>
          <a:xfrm>
            <a:off x="6217920" y="4206240"/>
            <a:ext cx="5486400" cy="1554480"/>
          </a:xfrm>
          <a:prstGeom prst="rect">
            <a:avLst/>
          </a:prstGeom>
          <a:noFill/>
          <a:ln/>
        </p:spPr>
        <p:txBody>
          <a:bodyPr wrap="square" rtlCol="0" anchor="t"/>
          <a:lstStyle/>
          <a:p>
            <a:pPr marL="342900" indent="-342900">
              <a:buSzPct val="100000"/>
              <a:buChar char="•"/>
            </a:pPr>
            <a:r>
              <a:rPr lang="en-US" sz="1200" dirty="0">
                <a:solidFill>
                  <a:srgbClr val="212121"/>
                </a:solidFill>
                <a:latin typeface="Arial" pitchFamily="34" charset="0"/>
                <a:ea typeface="Arial" pitchFamily="34" charset="-122"/>
                <a:cs typeface="Arial" pitchFamily="34" charset="-120"/>
              </a:rPr>
              <a:t>RF: only 24 false positives out of 33,244 benign flows</a:t>
            </a:r>
            <a:endParaRPr lang="en-US" sz="1200" dirty="0"/>
          </a:p>
          <a:p>
            <a:pPr marL="342900" indent="-342900">
              <a:buSzPct val="100000"/>
              <a:buChar char="•"/>
            </a:pPr>
            <a:r>
              <a:rPr lang="en-US" sz="1200" dirty="0">
                <a:solidFill>
                  <a:srgbClr val="212121"/>
                </a:solidFill>
                <a:latin typeface="Arial" pitchFamily="34" charset="0"/>
                <a:ea typeface="Arial" pitchFamily="34" charset="-122"/>
                <a:cs typeface="Arial" pitchFamily="34" charset="-120"/>
              </a:rPr>
              <a:t>LSTM: 663 FP and 411 FN — worst on both axes</a:t>
            </a:r>
            <a:endParaRPr lang="en-US" sz="1200" dirty="0"/>
          </a:p>
          <a:p>
            <a:pPr marL="342900" indent="-342900">
              <a:buSzPct val="100000"/>
              <a:buChar char="•"/>
            </a:pPr>
            <a:r>
              <a:rPr lang="en-US" sz="1200" dirty="0">
                <a:solidFill>
                  <a:srgbClr val="212121"/>
                </a:solidFill>
                <a:latin typeface="Arial" pitchFamily="34" charset="0"/>
                <a:ea typeface="Arial" pitchFamily="34" charset="-122"/>
                <a:cs typeface="Arial" pitchFamily="34" charset="-120"/>
              </a:rPr>
              <a:t>CNN-LSTM cuts LSTM’s FPs to 182 (3.6× reduction)</a:t>
            </a:r>
            <a:endParaRPr lang="en-US" sz="1200" dirty="0"/>
          </a:p>
          <a:p>
            <a:pPr marL="342900" indent="-342900">
              <a:buSzPct val="100000"/>
              <a:buChar char="•"/>
            </a:pPr>
            <a:r>
              <a:rPr lang="en-US" sz="1200" dirty="0">
                <a:solidFill>
                  <a:srgbClr val="212121"/>
                </a:solidFill>
                <a:latin typeface="Arial" pitchFamily="34" charset="0"/>
                <a:ea typeface="Arial" pitchFamily="34" charset="-122"/>
                <a:cs typeface="Arial" pitchFamily="34" charset="-120"/>
              </a:rPr>
              <a:t>XGBoost+SMOTE: only 46 missed attacks (best recall)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Live demo: SHAP interpretability in Colab</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10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Shape 3"/>
          <p:cNvSpPr/>
          <p:nvPr/>
        </p:nvSpPr>
        <p:spPr>
          <a:xfrm>
            <a:off x="457200" y="1097280"/>
            <a:ext cx="5029200" cy="4937760"/>
          </a:xfrm>
          <a:prstGeom prst="rect">
            <a:avLst/>
          </a:prstGeom>
          <a:solidFill>
            <a:srgbClr val="1F3864"/>
          </a:solidFill>
          <a:ln w="12700">
            <a:solidFill>
              <a:srgbClr val="1F3864"/>
            </a:solidFill>
            <a:prstDash val="solid"/>
          </a:ln>
        </p:spPr>
      </p:sp>
      <p:sp>
        <p:nvSpPr>
          <p:cNvPr id="6" name="Text 4"/>
          <p:cNvSpPr/>
          <p:nvPr/>
        </p:nvSpPr>
        <p:spPr>
          <a:xfrm>
            <a:off x="640080" y="1280160"/>
            <a:ext cx="4663440" cy="548640"/>
          </a:xfrm>
          <a:prstGeom prst="rect">
            <a:avLst/>
          </a:prstGeom>
          <a:noFill/>
          <a:ln/>
        </p:spPr>
        <p:txBody>
          <a:bodyPr wrap="square" lIns="0" tIns="0" rIns="0" bIns="0" rtlCol="0" anchor="ctr"/>
          <a:lstStyle/>
          <a:p>
            <a:pPr algn="l" indent="0" marL="0">
              <a:buNone/>
            </a:pPr>
            <a:r>
              <a:rPr lang="en-US" sz="2400" b="1" spc="400" kern="0" dirty="0">
                <a:solidFill>
                  <a:srgbClr val="FFFFFF"/>
                </a:solidFill>
                <a:latin typeface="Arial" pitchFamily="34" charset="0"/>
                <a:ea typeface="Arial" pitchFamily="34" charset="-122"/>
                <a:cs typeface="Arial" pitchFamily="34" charset="-120"/>
              </a:rPr>
              <a:t>LIVE DEMO</a:t>
            </a:r>
            <a:endParaRPr lang="en-US" sz="2400" dirty="0"/>
          </a:p>
        </p:txBody>
      </p:sp>
      <p:sp>
        <p:nvSpPr>
          <p:cNvPr id="7" name="Text 5"/>
          <p:cNvSpPr/>
          <p:nvPr/>
        </p:nvSpPr>
        <p:spPr>
          <a:xfrm>
            <a:off x="640080" y="1828800"/>
            <a:ext cx="4663440" cy="365760"/>
          </a:xfrm>
          <a:prstGeom prst="rect">
            <a:avLst/>
          </a:prstGeom>
          <a:noFill/>
          <a:ln/>
        </p:spPr>
        <p:txBody>
          <a:bodyPr wrap="square" rtlCol="0" anchor="ctr"/>
          <a:lstStyle/>
          <a:p>
            <a:pPr algn="l" indent="0" marL="0">
              <a:buNone/>
            </a:pPr>
            <a:r>
              <a:rPr lang="en-US" sz="1300" i="1" dirty="0">
                <a:solidFill>
                  <a:srgbClr val="CADCFC"/>
                </a:solidFill>
                <a:latin typeface="Arial" pitchFamily="34" charset="0"/>
                <a:ea typeface="Arial" pitchFamily="34" charset="-122"/>
                <a:cs typeface="Arial" pitchFamily="34" charset="-120"/>
              </a:rPr>
              <a:t>Switching to Google Colab now</a:t>
            </a:r>
            <a:endParaRPr lang="en-US" sz="1300" dirty="0"/>
          </a:p>
        </p:txBody>
      </p:sp>
      <p:sp>
        <p:nvSpPr>
          <p:cNvPr id="8" name="Text 6"/>
          <p:cNvSpPr/>
          <p:nvPr/>
        </p:nvSpPr>
        <p:spPr>
          <a:xfrm>
            <a:off x="640080" y="2468880"/>
            <a:ext cx="4663440" cy="2926080"/>
          </a:xfrm>
          <a:prstGeom prst="rect">
            <a:avLst/>
          </a:prstGeom>
          <a:noFill/>
          <a:ln/>
        </p:spPr>
        <p:txBody>
          <a:bodyPr wrap="square" rtlCol="0" anchor="t"/>
          <a:lstStyle/>
          <a:p>
            <a:pPr algn="l" indent="0" marL="0">
              <a:buNone/>
            </a:pPr>
            <a:r>
              <a:rPr lang="en-US" sz="1500" b="1" dirty="0">
                <a:solidFill>
                  <a:srgbClr val="FFFFFF"/>
                </a:solidFill>
                <a:latin typeface="Arial" pitchFamily="34" charset="0"/>
                <a:ea typeface="Arial" pitchFamily="34" charset="-122"/>
                <a:cs typeface="Arial" pitchFamily="34" charset="-120"/>
              </a:rPr>
              <a:t>What I’ll show:</a:t>
            </a:r>
            <a:endParaRPr lang="en-US" sz="1500" dirty="0"/>
          </a:p>
          <a:p>
            <a:pPr algn="l" indent="0" marL="0">
              <a:buNone/>
            </a:pPr>
            <a:r>
              <a:rPr lang="en-US" sz="800" dirty="0">
                <a:solidFill>
                  <a:srgbClr val="000000"/>
                </a:solidFill>
                <a:latin typeface="Arial" pitchFamily="34" charset="0"/>
                <a:ea typeface="Arial" pitchFamily="34" charset="-122"/>
                <a:cs typeface="Arial" pitchFamily="34" charset="-120"/>
              </a:rPr>
              <a:t> </a:t>
            </a:r>
            <a:endParaRPr lang="en-US" sz="1500" dirty="0"/>
          </a:p>
          <a:p>
            <a:pPr algn="l" indent="0" marL="0">
              <a:buNone/>
            </a:pPr>
            <a:r>
              <a:rPr lang="en-US" sz="1300" dirty="0">
                <a:solidFill>
                  <a:srgbClr val="CADCFC"/>
                </a:solidFill>
                <a:latin typeface="Arial" pitchFamily="34" charset="0"/>
                <a:ea typeface="Arial" pitchFamily="34" charset="-122"/>
                <a:cs typeface="Arial" pitchFamily="34" charset="-120"/>
              </a:rPr>
              <a:t>1. The CFS function and selected features (~10 s)</a:t>
            </a:r>
            <a:endParaRPr lang="en-US" sz="1500" dirty="0"/>
          </a:p>
          <a:p>
            <a:pPr algn="l" indent="0" marL="0">
              <a:buNone/>
            </a:pPr>
            <a:r>
              <a:rPr lang="en-US" sz="1300" dirty="0">
                <a:solidFill>
                  <a:srgbClr val="CADCFC"/>
                </a:solidFill>
                <a:latin typeface="Arial" pitchFamily="34" charset="0"/>
                <a:ea typeface="Arial" pitchFamily="34" charset="-122"/>
                <a:cs typeface="Arial" pitchFamily="34" charset="-120"/>
              </a:rPr>
              <a:t>2. The CNN-LSTM model summary (~10 s)</a:t>
            </a:r>
            <a:endParaRPr lang="en-US" sz="1500" dirty="0"/>
          </a:p>
          <a:p>
            <a:pPr algn="l" indent="0" marL="0">
              <a:buNone/>
            </a:pPr>
            <a:r>
              <a:rPr lang="en-US" sz="1300" b="1" dirty="0">
                <a:solidFill>
                  <a:srgbClr val="FFE0B2"/>
                </a:solidFill>
                <a:latin typeface="Arial" pitchFamily="34" charset="0"/>
                <a:ea typeface="Arial" pitchFamily="34" charset="-122"/>
                <a:cs typeface="Arial" pitchFamily="34" charset="-120"/>
              </a:rPr>
              <a:t>3. Run the SHAP cell live (~30 s)</a:t>
            </a:r>
            <a:endParaRPr lang="en-US" sz="1500" dirty="0"/>
          </a:p>
          <a:p>
            <a:pPr algn="l" indent="0" marL="0">
              <a:buNone/>
            </a:pPr>
            <a:r>
              <a:rPr lang="en-US" sz="1300" dirty="0">
                <a:solidFill>
                  <a:srgbClr val="CADCFC"/>
                </a:solidFill>
                <a:latin typeface="Arial" pitchFamily="34" charset="0"/>
                <a:ea typeface="Arial" pitchFamily="34" charset="-122"/>
                <a:cs typeface="Arial" pitchFamily="34" charset="-120"/>
              </a:rPr>
              <a:t>4. Walk through the SHAP global importance plot (~30 s)</a:t>
            </a:r>
            <a:endParaRPr lang="en-US" sz="1500" dirty="0"/>
          </a:p>
        </p:txBody>
      </p:sp>
      <p:sp>
        <p:nvSpPr>
          <p:cNvPr id="9" name="Text 7"/>
          <p:cNvSpPr/>
          <p:nvPr/>
        </p:nvSpPr>
        <p:spPr>
          <a:xfrm>
            <a:off x="640080" y="5532120"/>
            <a:ext cx="4663440" cy="411480"/>
          </a:xfrm>
          <a:prstGeom prst="rect">
            <a:avLst/>
          </a:prstGeom>
          <a:noFill/>
          <a:ln/>
        </p:spPr>
        <p:txBody>
          <a:bodyPr wrap="square" rtlCol="0" anchor="ctr"/>
          <a:lstStyle/>
          <a:p>
            <a:pPr algn="l" indent="0" marL="0">
              <a:buNone/>
            </a:pPr>
            <a:r>
              <a:rPr lang="en-US" sz="1100" i="1" dirty="0">
                <a:solidFill>
                  <a:srgbClr val="CADCFC"/>
                </a:solidFill>
                <a:latin typeface="Arial" pitchFamily="34" charset="0"/>
                <a:ea typeface="Arial" pitchFamily="34" charset="-122"/>
                <a:cs typeface="Arial" pitchFamily="34" charset="-120"/>
              </a:rPr>
              <a:t>All cells are pre-run; I am only re-executing the SHAP cell.</a:t>
            </a:r>
            <a:endParaRPr lang="en-US" sz="1100" dirty="0"/>
          </a:p>
        </p:txBody>
      </p:sp>
      <p:sp>
        <p:nvSpPr>
          <p:cNvPr id="10" name="Text 8"/>
          <p:cNvSpPr/>
          <p:nvPr/>
        </p:nvSpPr>
        <p:spPr>
          <a:xfrm>
            <a:off x="5760720" y="1097280"/>
            <a:ext cx="6035040" cy="320040"/>
          </a:xfrm>
          <a:prstGeom prst="rect">
            <a:avLst/>
          </a:prstGeom>
          <a:noFill/>
          <a:ln/>
        </p:spPr>
        <p:txBody>
          <a:bodyPr wrap="square" rtlCol="0" anchor="ctr"/>
          <a:lstStyle/>
          <a:p>
            <a:pPr algn="l" indent="0" marL="0">
              <a:buNone/>
            </a:pPr>
            <a:r>
              <a:rPr lang="en-US" sz="1100" i="1" dirty="0">
                <a:solidFill>
                  <a:srgbClr val="666666"/>
                </a:solidFill>
                <a:latin typeface="Arial" pitchFamily="34" charset="0"/>
                <a:ea typeface="Arial" pitchFamily="34" charset="-122"/>
                <a:cs typeface="Arial" pitchFamily="34" charset="-120"/>
              </a:rPr>
              <a:t>Pre-computed reference (in case of demo issue):</a:t>
            </a:r>
            <a:endParaRPr lang="en-US" sz="1100" dirty="0"/>
          </a:p>
        </p:txBody>
      </p:sp>
      <p:pic>
        <p:nvPicPr>
          <p:cNvPr id="11" name="Image 0" descr="/home/claude/project/figures/shap_global_importance.png">    </p:cNvPr>
          <p:cNvPicPr>
            <a:picLocks noChangeAspect="1"/>
          </p:cNvPicPr>
          <p:nvPr/>
        </p:nvPicPr>
        <p:blipFill>
          <a:blip r:embed="rId1"/>
          <a:srcRect l="0" r="0" t="0" b="0"/>
          <a:stretch/>
        </p:blipFill>
        <p:spPr>
          <a:xfrm>
            <a:off x="5760720" y="1417320"/>
            <a:ext cx="6035040" cy="4023360"/>
          </a:xfrm>
          <a:prstGeom prst="rect">
            <a:avLst/>
          </a:prstGeom>
        </p:spPr>
      </p:pic>
      <p:sp>
        <p:nvSpPr>
          <p:cNvPr id="12" name="Text 9"/>
          <p:cNvSpPr/>
          <p:nvPr/>
        </p:nvSpPr>
        <p:spPr>
          <a:xfrm>
            <a:off x="5760720" y="5486400"/>
            <a:ext cx="6035040" cy="457200"/>
          </a:xfrm>
          <a:prstGeom prst="rect">
            <a:avLst/>
          </a:prstGeom>
          <a:noFill/>
          <a:ln/>
        </p:spPr>
        <p:txBody>
          <a:bodyPr wrap="square" rtlCol="0" anchor="ctr"/>
          <a:lstStyle/>
          <a:p>
            <a:pPr algn="ctr" indent="0" marL="0">
              <a:buNone/>
            </a:pPr>
            <a:r>
              <a:rPr lang="en-US" sz="1100" i="1" dirty="0">
                <a:solidFill>
                  <a:srgbClr val="666666"/>
                </a:solidFill>
                <a:latin typeface="Arial" pitchFamily="34" charset="0"/>
                <a:ea typeface="Arial" pitchFamily="34" charset="-122"/>
                <a:cs typeface="Arial" pitchFamily="34" charset="-120"/>
              </a:rPr>
              <a:t>Figures 5–6: SHAP attributions (Random Forest). Top features align with Pearson ranking from Slide 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548640"/>
          </a:xfrm>
          <a:prstGeom prst="rect">
            <a:avLst/>
          </a:prstGeom>
          <a:noFill/>
          <a:ln/>
        </p:spPr>
        <p:txBody>
          <a:bodyPr wrap="square" lIns="0" tIns="0" rIns="0" bIns="0" rtlCol="0" anchor="ctr"/>
          <a:lstStyle/>
          <a:p>
            <a:pPr algn="l" indent="0" marL="0">
              <a:buNone/>
            </a:pPr>
            <a:r>
              <a:rPr lang="en-US" sz="2600" b="1" dirty="0">
                <a:solidFill>
                  <a:srgbClr val="1F3864"/>
                </a:solidFill>
                <a:latin typeface="Arial" pitchFamily="34" charset="0"/>
                <a:ea typeface="Arial" pitchFamily="34" charset="-122"/>
                <a:cs typeface="Arial" pitchFamily="34" charset="-120"/>
              </a:rPr>
              <a:t>Conclusions, limitations, future work</a:t>
            </a:r>
            <a:endParaRPr lang="en-US" sz="2600" dirty="0"/>
          </a:p>
        </p:txBody>
      </p:sp>
      <p:sp>
        <p:nvSpPr>
          <p:cNvPr id="3" name="Text 1"/>
          <p:cNvSpPr/>
          <p:nvPr/>
        </p:nvSpPr>
        <p:spPr>
          <a:xfrm>
            <a:off x="10972800" y="274320"/>
            <a:ext cx="822960" cy="365760"/>
          </a:xfrm>
          <a:prstGeom prst="rect">
            <a:avLst/>
          </a:prstGeom>
          <a:noFill/>
          <a:ln/>
        </p:spPr>
        <p:txBody>
          <a:bodyPr wrap="square" rtlCol="0" anchor="ctr"/>
          <a:lstStyle/>
          <a:p>
            <a:pPr algn="r" indent="0" marL="0">
              <a:buNone/>
            </a:pPr>
            <a:r>
              <a:rPr lang="en-US" sz="1100" dirty="0">
                <a:solidFill>
                  <a:srgbClr val="666666"/>
                </a:solidFill>
                <a:latin typeface="Arial" pitchFamily="34" charset="0"/>
                <a:ea typeface="Arial" pitchFamily="34" charset="-122"/>
                <a:cs typeface="Arial" pitchFamily="34" charset="-120"/>
              </a:rPr>
              <a:t>11 / 11</a:t>
            </a:r>
            <a:endParaRPr lang="en-US" sz="1100" dirty="0"/>
          </a:p>
        </p:txBody>
      </p:sp>
      <p:sp>
        <p:nvSpPr>
          <p:cNvPr id="4" name="Text 2"/>
          <p:cNvSpPr/>
          <p:nvPr/>
        </p:nvSpPr>
        <p:spPr>
          <a:xfrm>
            <a:off x="457200" y="6537960"/>
            <a:ext cx="11247120" cy="274320"/>
          </a:xfrm>
          <a:prstGeom prst="rect">
            <a:avLst/>
          </a:prstGeom>
          <a:noFill/>
          <a:ln/>
        </p:spPr>
        <p:txBody>
          <a:bodyPr wrap="square" rtlCol="0" anchor="ctr"/>
          <a:lstStyle/>
          <a:p>
            <a:pPr algn="l" indent="0" marL="0">
              <a:buNone/>
            </a:pPr>
            <a:r>
              <a:rPr lang="en-US" sz="900" dirty="0">
                <a:solidFill>
                  <a:srgbClr val="666666"/>
                </a:solidFill>
                <a:latin typeface="Arial" pitchFamily="34" charset="0"/>
                <a:ea typeface="Arial" pitchFamily="34" charset="-122"/>
                <a:cs typeface="Arial" pitchFamily="34" charset="-120"/>
              </a:rPr>
              <a:t>Udhaya Kumar Palani · 23306891 · MSc Cybersecurity, NCI</a:t>
            </a:r>
            <a:endParaRPr lang="en-US" sz="900" dirty="0"/>
          </a:p>
        </p:txBody>
      </p:sp>
      <p:sp>
        <p:nvSpPr>
          <p:cNvPr id="5" name="Shape 3"/>
          <p:cNvSpPr/>
          <p:nvPr/>
        </p:nvSpPr>
        <p:spPr>
          <a:xfrm>
            <a:off x="457200" y="1097280"/>
            <a:ext cx="3657600" cy="5029200"/>
          </a:xfrm>
          <a:prstGeom prst="rect">
            <a:avLst/>
          </a:prstGeom>
          <a:solidFill>
            <a:srgbClr val="FFFFFF"/>
          </a:solidFill>
          <a:ln w="12700">
            <a:solidFill>
              <a:srgbClr val="1F3864"/>
            </a:solidFill>
            <a:prstDash val="solid"/>
          </a:ln>
        </p:spPr>
      </p:sp>
      <p:sp>
        <p:nvSpPr>
          <p:cNvPr id="6" name="Shape 4"/>
          <p:cNvSpPr/>
          <p:nvPr/>
        </p:nvSpPr>
        <p:spPr>
          <a:xfrm>
            <a:off x="457200" y="1097280"/>
            <a:ext cx="3657600" cy="109728"/>
          </a:xfrm>
          <a:prstGeom prst="rect">
            <a:avLst/>
          </a:prstGeom>
          <a:solidFill>
            <a:srgbClr val="1F3864"/>
          </a:solidFill>
          <a:ln w="12700">
            <a:solidFill>
              <a:srgbClr val="1F3864"/>
            </a:solidFill>
            <a:prstDash val="solid"/>
          </a:ln>
        </p:spPr>
      </p:sp>
      <p:sp>
        <p:nvSpPr>
          <p:cNvPr id="7" name="Text 5"/>
          <p:cNvSpPr/>
          <p:nvPr/>
        </p:nvSpPr>
        <p:spPr>
          <a:xfrm>
            <a:off x="640080" y="1280160"/>
            <a:ext cx="3291840" cy="457200"/>
          </a:xfrm>
          <a:prstGeom prst="rect">
            <a:avLst/>
          </a:prstGeom>
          <a:noFill/>
          <a:ln/>
        </p:spPr>
        <p:txBody>
          <a:bodyPr wrap="square" lIns="0" tIns="0" rIns="0" bIns="0" rtlCol="0" anchor="ctr"/>
          <a:lstStyle/>
          <a:p>
            <a:pPr algn="l" indent="0" marL="0">
              <a:buNone/>
            </a:pPr>
            <a:r>
              <a:rPr lang="en-US" sz="1800" b="1" dirty="0">
                <a:solidFill>
                  <a:srgbClr val="1F3864"/>
                </a:solidFill>
                <a:latin typeface="Arial" pitchFamily="34" charset="0"/>
                <a:ea typeface="Arial" pitchFamily="34" charset="-122"/>
                <a:cs typeface="Arial" pitchFamily="34" charset="-120"/>
              </a:rPr>
              <a:t>Conclusions</a:t>
            </a:r>
            <a:endParaRPr lang="en-US" sz="1800" dirty="0"/>
          </a:p>
        </p:txBody>
      </p:sp>
      <p:sp>
        <p:nvSpPr>
          <p:cNvPr id="8" name="Text 6"/>
          <p:cNvSpPr/>
          <p:nvPr/>
        </p:nvSpPr>
        <p:spPr>
          <a:xfrm>
            <a:off x="640080" y="1828800"/>
            <a:ext cx="3291840" cy="4114800"/>
          </a:xfrm>
          <a:prstGeom prst="rect">
            <a:avLst/>
          </a:prstGeom>
          <a:noFill/>
          <a:ln/>
        </p:spPr>
        <p:txBody>
          <a:bodyPr wrap="square" rtlCol="0" anchor="t"/>
          <a:lstStyle/>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CFS reduced 78 → ~16 features without harming accuracy across all four classifiers. </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Proposed CNN-LSTM beats LSTM baseline on every metric (+2.4 F1 pp, −3.6× FPR).</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b="1" dirty="0">
                <a:solidFill>
                  <a:srgbClr val="E65100"/>
                </a:solidFill>
                <a:latin typeface="Arial" pitchFamily="34" charset="0"/>
                <a:ea typeface="Arial" pitchFamily="34" charset="-122"/>
                <a:cs typeface="Arial" pitchFamily="34" charset="-120"/>
              </a:rPr>
              <a:t>But Random Forest and XGBoost+SMOTE are stronger overall — honest finding.</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SHAP top features align with Pearson — audit trail for analysts.</a:t>
            </a:r>
            <a:endParaRPr lang="en-US" sz="1200" dirty="0"/>
          </a:p>
        </p:txBody>
      </p:sp>
      <p:sp>
        <p:nvSpPr>
          <p:cNvPr id="9" name="Shape 7"/>
          <p:cNvSpPr/>
          <p:nvPr/>
        </p:nvSpPr>
        <p:spPr>
          <a:xfrm>
            <a:off x="4251960" y="1097280"/>
            <a:ext cx="3657600" cy="5029200"/>
          </a:xfrm>
          <a:prstGeom prst="rect">
            <a:avLst/>
          </a:prstGeom>
          <a:solidFill>
            <a:srgbClr val="FFFFFF"/>
          </a:solidFill>
          <a:ln w="12700">
            <a:solidFill>
              <a:srgbClr val="2E74B5"/>
            </a:solidFill>
            <a:prstDash val="solid"/>
          </a:ln>
        </p:spPr>
      </p:sp>
      <p:sp>
        <p:nvSpPr>
          <p:cNvPr id="10" name="Shape 8"/>
          <p:cNvSpPr/>
          <p:nvPr/>
        </p:nvSpPr>
        <p:spPr>
          <a:xfrm>
            <a:off x="4251960" y="1097280"/>
            <a:ext cx="3657600" cy="109728"/>
          </a:xfrm>
          <a:prstGeom prst="rect">
            <a:avLst/>
          </a:prstGeom>
          <a:solidFill>
            <a:srgbClr val="2E74B5"/>
          </a:solidFill>
          <a:ln w="12700">
            <a:solidFill>
              <a:srgbClr val="2E74B5"/>
            </a:solidFill>
            <a:prstDash val="solid"/>
          </a:ln>
        </p:spPr>
      </p:sp>
      <p:sp>
        <p:nvSpPr>
          <p:cNvPr id="11" name="Text 9"/>
          <p:cNvSpPr/>
          <p:nvPr/>
        </p:nvSpPr>
        <p:spPr>
          <a:xfrm>
            <a:off x="4434840" y="1280160"/>
            <a:ext cx="3291840" cy="457200"/>
          </a:xfrm>
          <a:prstGeom prst="rect">
            <a:avLst/>
          </a:prstGeom>
          <a:noFill/>
          <a:ln/>
        </p:spPr>
        <p:txBody>
          <a:bodyPr wrap="square" lIns="0" tIns="0" rIns="0" bIns="0" rtlCol="0" anchor="ctr"/>
          <a:lstStyle/>
          <a:p>
            <a:pPr algn="l" indent="0" marL="0">
              <a:buNone/>
            </a:pPr>
            <a:r>
              <a:rPr lang="en-US" sz="1800" b="1" dirty="0">
                <a:solidFill>
                  <a:srgbClr val="2E74B5"/>
                </a:solidFill>
                <a:latin typeface="Arial" pitchFamily="34" charset="0"/>
                <a:ea typeface="Arial" pitchFamily="34" charset="-122"/>
                <a:cs typeface="Arial" pitchFamily="34" charset="-120"/>
              </a:rPr>
              <a:t>Limitations</a:t>
            </a:r>
            <a:endParaRPr lang="en-US" sz="1800" dirty="0"/>
          </a:p>
        </p:txBody>
      </p:sp>
      <p:sp>
        <p:nvSpPr>
          <p:cNvPr id="12" name="Text 10"/>
          <p:cNvSpPr/>
          <p:nvPr/>
        </p:nvSpPr>
        <p:spPr>
          <a:xfrm>
            <a:off x="4434840" y="1828800"/>
            <a:ext cx="3291840" cy="4114800"/>
          </a:xfrm>
          <a:prstGeom prst="rect">
            <a:avLst/>
          </a:prstGeom>
          <a:noFill/>
          <a:ln/>
        </p:spPr>
        <p:txBody>
          <a:bodyPr wrap="square" rtlCol="0" anchor="t"/>
          <a:lstStyle/>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Binary task only (multi-class deferred).</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200k stratified sample, not full 2.83M.</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SHAP applied only to RF (TreeExplainer); KernelExplainer on deep models too costly.</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No cross-testbed validation (Apruzzese et al. 2022 caveat).</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No adversarial robustness testing.</a:t>
            </a:r>
            <a:endParaRPr lang="en-US" sz="1200" dirty="0"/>
          </a:p>
        </p:txBody>
      </p:sp>
      <p:sp>
        <p:nvSpPr>
          <p:cNvPr id="13" name="Shape 11"/>
          <p:cNvSpPr/>
          <p:nvPr/>
        </p:nvSpPr>
        <p:spPr>
          <a:xfrm>
            <a:off x="8046720" y="1097280"/>
            <a:ext cx="3657600" cy="5029200"/>
          </a:xfrm>
          <a:prstGeom prst="rect">
            <a:avLst/>
          </a:prstGeom>
          <a:solidFill>
            <a:srgbClr val="FFFFFF"/>
          </a:solidFill>
          <a:ln w="12700">
            <a:solidFill>
              <a:srgbClr val="E65100"/>
            </a:solidFill>
            <a:prstDash val="solid"/>
          </a:ln>
        </p:spPr>
      </p:sp>
      <p:sp>
        <p:nvSpPr>
          <p:cNvPr id="14" name="Shape 12"/>
          <p:cNvSpPr/>
          <p:nvPr/>
        </p:nvSpPr>
        <p:spPr>
          <a:xfrm>
            <a:off x="8046720" y="1097280"/>
            <a:ext cx="3657600" cy="109728"/>
          </a:xfrm>
          <a:prstGeom prst="rect">
            <a:avLst/>
          </a:prstGeom>
          <a:solidFill>
            <a:srgbClr val="E65100"/>
          </a:solidFill>
          <a:ln w="12700">
            <a:solidFill>
              <a:srgbClr val="E65100"/>
            </a:solidFill>
            <a:prstDash val="solid"/>
          </a:ln>
        </p:spPr>
      </p:sp>
      <p:sp>
        <p:nvSpPr>
          <p:cNvPr id="15" name="Text 13"/>
          <p:cNvSpPr/>
          <p:nvPr/>
        </p:nvSpPr>
        <p:spPr>
          <a:xfrm>
            <a:off x="8229600" y="1280160"/>
            <a:ext cx="3291840" cy="457200"/>
          </a:xfrm>
          <a:prstGeom prst="rect">
            <a:avLst/>
          </a:prstGeom>
          <a:noFill/>
          <a:ln/>
        </p:spPr>
        <p:txBody>
          <a:bodyPr wrap="square" lIns="0" tIns="0" rIns="0" bIns="0" rtlCol="0" anchor="ctr"/>
          <a:lstStyle/>
          <a:p>
            <a:pPr algn="l" indent="0" marL="0">
              <a:buNone/>
            </a:pPr>
            <a:r>
              <a:rPr lang="en-US" sz="1800" b="1" dirty="0">
                <a:solidFill>
                  <a:srgbClr val="E65100"/>
                </a:solidFill>
                <a:latin typeface="Arial" pitchFamily="34" charset="0"/>
                <a:ea typeface="Arial" pitchFamily="34" charset="-122"/>
                <a:cs typeface="Arial" pitchFamily="34" charset="-120"/>
              </a:rPr>
              <a:t>Future work</a:t>
            </a:r>
            <a:endParaRPr lang="en-US" sz="1800" dirty="0"/>
          </a:p>
        </p:txBody>
      </p:sp>
      <p:sp>
        <p:nvSpPr>
          <p:cNvPr id="16" name="Text 14"/>
          <p:cNvSpPr/>
          <p:nvPr/>
        </p:nvSpPr>
        <p:spPr>
          <a:xfrm>
            <a:off x="8229600" y="1828800"/>
            <a:ext cx="3291840" cy="4114800"/>
          </a:xfrm>
          <a:prstGeom prst="rect">
            <a:avLst/>
          </a:prstGeom>
          <a:noFill/>
          <a:ln/>
        </p:spPr>
        <p:txBody>
          <a:bodyPr wrap="square" rtlCol="0" anchor="t"/>
          <a:lstStyle/>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Multi-class extension on all 7 attack types.</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Add SMOTE / focal loss to deep models — likely to close the gap to XGBoost+SMOTE.</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KernelExplainer SHAP on CNN-LSTM for full interpretability story.</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Cross-testbed validation (CICIDS2017 → UNSW-NB15).</a:t>
            </a:r>
            <a:endParaRPr lang="en-US" sz="1200" dirty="0"/>
          </a:p>
          <a:p>
            <a:pPr algn="l" indent="0" marL="0">
              <a:buNone/>
            </a:pPr>
            <a:r>
              <a:rPr lang="en-US" sz="600" dirty="0">
                <a:solidFill>
                  <a:srgbClr val="000000"/>
                </a:solidFill>
                <a:latin typeface="Arial" pitchFamily="34" charset="0"/>
                <a:ea typeface="Arial" pitchFamily="34" charset="-122"/>
                <a:cs typeface="Arial" pitchFamily="34" charset="-120"/>
              </a:rPr>
              <a:t> </a:t>
            </a:r>
            <a:endParaRPr lang="en-US" sz="1200" dirty="0"/>
          </a:p>
          <a:p>
            <a:pPr algn="l" marL="342900" indent="-342900">
              <a:buSzPct val="100000"/>
              <a:buChar char="•"/>
            </a:pPr>
            <a:r>
              <a:rPr lang="en-US" sz="1200" dirty="0">
                <a:solidFill>
                  <a:srgbClr val="212121"/>
                </a:solidFill>
                <a:latin typeface="Arial" pitchFamily="34" charset="0"/>
                <a:ea typeface="Arial" pitchFamily="34" charset="-122"/>
                <a:cs typeface="Arial" pitchFamily="34" charset="-120"/>
              </a:rPr>
              <a:t>Adversarial evasion testing.</a:t>
            </a:r>
            <a:endParaRPr lang="en-US" sz="1200" dirty="0"/>
          </a:p>
        </p:txBody>
      </p:sp>
      <p:sp>
        <p:nvSpPr>
          <p:cNvPr id="17" name="Text 15"/>
          <p:cNvSpPr/>
          <p:nvPr/>
        </p:nvSpPr>
        <p:spPr>
          <a:xfrm>
            <a:off x="457200" y="6263640"/>
            <a:ext cx="11247120" cy="274320"/>
          </a:xfrm>
          <a:prstGeom prst="rect">
            <a:avLst/>
          </a:prstGeom>
          <a:noFill/>
          <a:ln/>
        </p:spPr>
        <p:txBody>
          <a:bodyPr wrap="square" rtlCol="0" anchor="ctr"/>
          <a:lstStyle/>
          <a:p>
            <a:pPr algn="ctr" indent="0" marL="0">
              <a:buNone/>
            </a:pPr>
            <a:r>
              <a:rPr lang="en-US" sz="1800" b="1" i="1" dirty="0">
                <a:solidFill>
                  <a:srgbClr val="1F3864"/>
                </a:solidFill>
                <a:latin typeface="Arial" pitchFamily="34" charset="0"/>
                <a:ea typeface="Arial" pitchFamily="34" charset="-122"/>
                <a:cs typeface="Arial" pitchFamily="34" charset="-120"/>
              </a:rPr>
              <a:t>Thank you.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Interpretable Network Intrusion Detection on CICIDS2017</dc:title>
  <dc:subject>PptxGenJS Presentation</dc:subject>
  <dc:creator>Udhaya Kumar Palani</dc:creator>
  <cp:lastModifiedBy>Udhaya Kumar Palani</cp:lastModifiedBy>
  <cp:revision>1</cp:revision>
  <dcterms:created xsi:type="dcterms:W3CDTF">2026-05-01T19:00:59Z</dcterms:created>
  <dcterms:modified xsi:type="dcterms:W3CDTF">2026-05-01T19:00:59Z</dcterms:modified>
</cp:coreProperties>
</file>